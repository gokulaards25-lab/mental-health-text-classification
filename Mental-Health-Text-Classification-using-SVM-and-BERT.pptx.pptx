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40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40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40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40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AFA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9538" y="2528798"/>
            <a:ext cx="16241394" cy="174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403CCF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dirty="0" spc="580"/>
              <a:t>Mental</a:t>
            </a:r>
            <a:r>
              <a:rPr dirty="0" spc="385"/>
              <a:t> </a:t>
            </a:r>
            <a:r>
              <a:rPr dirty="0" spc="555"/>
              <a:t>Health</a:t>
            </a:r>
            <a:r>
              <a:rPr dirty="0" spc="385"/>
              <a:t> </a:t>
            </a:r>
            <a:r>
              <a:rPr dirty="0" spc="630"/>
              <a:t>Text</a:t>
            </a:r>
            <a:r>
              <a:rPr dirty="0" spc="385"/>
              <a:t> </a:t>
            </a:r>
            <a:r>
              <a:rPr dirty="0" spc="445"/>
              <a:t>Classification</a:t>
            </a:r>
            <a:r>
              <a:rPr dirty="0" spc="390"/>
              <a:t> </a:t>
            </a:r>
            <a:r>
              <a:rPr dirty="0" spc="475"/>
              <a:t>using</a:t>
            </a:r>
            <a:r>
              <a:rPr dirty="0" spc="385"/>
              <a:t> </a:t>
            </a:r>
            <a:r>
              <a:rPr dirty="0" spc="1075"/>
              <a:t>SVM </a:t>
            </a:r>
            <a:r>
              <a:rPr dirty="0" spc="575"/>
              <a:t>and</a:t>
            </a:r>
            <a:r>
              <a:rPr dirty="0" spc="375"/>
              <a:t> </a:t>
            </a:r>
            <a:r>
              <a:rPr dirty="0" spc="915"/>
              <a:t>BERT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538" y="4901123"/>
            <a:ext cx="4144645" cy="190436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56790" algn="l"/>
              </a:tabLst>
            </a:pP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Team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Members: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	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Jia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94959"/>
                </a:solidFill>
                <a:latin typeface="Tahoma"/>
                <a:cs typeface="Tahoma"/>
              </a:rPr>
              <a:t>Elsa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Kurian,</a:t>
            </a:r>
            <a:endParaRPr sz="2150">
              <a:latin typeface="Tahoma"/>
              <a:cs typeface="Tahoma"/>
            </a:endParaRPr>
          </a:p>
          <a:p>
            <a:pPr marL="2248535" marR="361315">
              <a:lnSpc>
                <a:spcPct val="235800"/>
              </a:lnSpc>
            </a:pP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Adithya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S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494959"/>
                </a:solidFill>
                <a:latin typeface="Tahoma"/>
                <a:cs typeface="Tahoma"/>
              </a:rPr>
              <a:t>B,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Gokul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A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50">
                <a:solidFill>
                  <a:srgbClr val="494959"/>
                </a:solidFill>
                <a:latin typeface="Tahoma"/>
                <a:cs typeface="Tahoma"/>
              </a:rPr>
              <a:t>R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380722"/>
            <a:ext cx="1188656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615"/>
              <a:t>Problem</a:t>
            </a:r>
            <a:r>
              <a:rPr dirty="0" spc="380"/>
              <a:t> </a:t>
            </a:r>
            <a:r>
              <a:rPr dirty="0" spc="530"/>
              <a:t>Statement</a:t>
            </a:r>
            <a:r>
              <a:rPr dirty="0" spc="380"/>
              <a:t> </a:t>
            </a:r>
            <a:r>
              <a:rPr dirty="0" spc="1065"/>
              <a:t>&amp;</a:t>
            </a:r>
            <a:r>
              <a:rPr dirty="0" spc="380"/>
              <a:t> </a:t>
            </a:r>
            <a:r>
              <a:rPr dirty="0" spc="495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538" y="3857536"/>
            <a:ext cx="34798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45">
                <a:solidFill>
                  <a:srgbClr val="494959"/>
                </a:solidFill>
                <a:latin typeface="Cambria"/>
                <a:cs typeface="Cambria"/>
              </a:rPr>
              <a:t>01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9538" y="4517640"/>
            <a:ext cx="5085715" cy="2773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85">
                <a:solidFill>
                  <a:srgbClr val="494959"/>
                </a:solidFill>
                <a:latin typeface="Cambria"/>
                <a:cs typeface="Cambria"/>
              </a:rPr>
              <a:t>Problem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Accurate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classification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of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mental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health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conditions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25">
                <a:solidFill>
                  <a:srgbClr val="494959"/>
                </a:solidFill>
                <a:latin typeface="Tahoma"/>
                <a:cs typeface="Tahoma"/>
              </a:rPr>
              <a:t>from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data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remains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challenging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94959"/>
                </a:solidFill>
                <a:latin typeface="Tahoma"/>
                <a:cs typeface="Tahoma"/>
              </a:rPr>
              <a:t>due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to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nuanced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emotional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expressions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contextual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dependencies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08505" y="3857536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94959"/>
                </a:solidFill>
                <a:latin typeface="Cambria"/>
                <a:cs typeface="Cambria"/>
              </a:rPr>
              <a:t>02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08505" y="4517640"/>
            <a:ext cx="4941570" cy="232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65">
                <a:solidFill>
                  <a:srgbClr val="494959"/>
                </a:solidFill>
                <a:latin typeface="Cambria"/>
                <a:cs typeface="Cambria"/>
              </a:rPr>
              <a:t>Importance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50">
                <a:solidFill>
                  <a:srgbClr val="494959"/>
                </a:solidFill>
                <a:latin typeface="Tahoma"/>
                <a:cs typeface="Tahoma"/>
              </a:rPr>
              <a:t>Early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detection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of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494959"/>
                </a:solidFill>
                <a:latin typeface="Tahoma"/>
                <a:cs typeface="Tahoma"/>
              </a:rPr>
              <a:t>anxiety,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depression,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suicidal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ideation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through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automated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analysis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can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enable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timely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interventions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support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037462" y="3857536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94959"/>
                </a:solidFill>
                <a:latin typeface="Cambria"/>
                <a:cs typeface="Cambria"/>
              </a:rPr>
              <a:t>03</a:t>
            </a:r>
            <a:endParaRPr sz="2150">
              <a:latin typeface="Cambria"/>
              <a:cs typeface="Cambri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6362" y="5289346"/>
            <a:ext cx="95249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6362" y="6184696"/>
            <a:ext cx="95249" cy="952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26362" y="6632371"/>
            <a:ext cx="95249" cy="952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037462" y="4517640"/>
            <a:ext cx="5257165" cy="2326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35">
                <a:solidFill>
                  <a:srgbClr val="494959"/>
                </a:solidFill>
                <a:latin typeface="Cambria"/>
                <a:cs typeface="Cambria"/>
              </a:rPr>
              <a:t>Objectives</a:t>
            </a:r>
            <a:endParaRPr sz="2750">
              <a:latin typeface="Cambria"/>
              <a:cs typeface="Cambria"/>
            </a:endParaRPr>
          </a:p>
          <a:p>
            <a:pPr marL="342265" marR="787400">
              <a:lnSpc>
                <a:spcPct val="136600"/>
              </a:lnSpc>
              <a:spcBef>
                <a:spcPts val="705"/>
              </a:spcBef>
            </a:pP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Build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evaluate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classification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models</a:t>
            </a:r>
            <a:endParaRPr sz="2150">
              <a:latin typeface="Tahoma"/>
              <a:cs typeface="Tahoma"/>
            </a:endParaRPr>
          </a:p>
          <a:p>
            <a:pPr marL="342265" marR="5080">
              <a:lnSpc>
                <a:spcPct val="136600"/>
              </a:lnSpc>
            </a:pPr>
            <a:r>
              <a:rPr dirty="0" sz="2150" spc="120">
                <a:solidFill>
                  <a:srgbClr val="494959"/>
                </a:solidFill>
                <a:latin typeface="Tahoma"/>
                <a:cs typeface="Tahoma"/>
              </a:rPr>
              <a:t>Compare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SVM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BERT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architectures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Deploy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functional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web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application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725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415"/>
              <a:t>Dataset</a:t>
            </a:r>
            <a:r>
              <a:rPr dirty="0" spc="380"/>
              <a:t> </a:t>
            </a:r>
            <a:r>
              <a:rPr dirty="0" spc="590"/>
              <a:t>Overview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992238" y="4094559"/>
            <a:ext cx="8009255" cy="1633855"/>
          </a:xfrm>
          <a:custGeom>
            <a:avLst/>
            <a:gdLst/>
            <a:ahLst/>
            <a:cxnLst/>
            <a:rect l="l" t="t" r="r" b="b"/>
            <a:pathLst>
              <a:path w="8009255" h="1633854">
                <a:moveTo>
                  <a:pt x="7967376" y="1633689"/>
                </a:moveTo>
                <a:lnTo>
                  <a:pt x="42481" y="1633689"/>
                </a:lnTo>
                <a:lnTo>
                  <a:pt x="25984" y="1630303"/>
                </a:lnTo>
                <a:lnTo>
                  <a:pt x="12471" y="1621214"/>
                </a:lnTo>
                <a:lnTo>
                  <a:pt x="3356" y="1607714"/>
                </a:lnTo>
                <a:lnTo>
                  <a:pt x="0" y="1591151"/>
                </a:lnTo>
                <a:lnTo>
                  <a:pt x="0" y="42481"/>
                </a:lnTo>
                <a:lnTo>
                  <a:pt x="25958" y="3342"/>
                </a:lnTo>
                <a:lnTo>
                  <a:pt x="7967376" y="0"/>
                </a:lnTo>
                <a:lnTo>
                  <a:pt x="7983939" y="3342"/>
                </a:lnTo>
                <a:lnTo>
                  <a:pt x="7997439" y="12454"/>
                </a:lnTo>
                <a:lnTo>
                  <a:pt x="8006528" y="25958"/>
                </a:lnTo>
                <a:lnTo>
                  <a:pt x="8008909" y="37775"/>
                </a:lnTo>
                <a:lnTo>
                  <a:pt x="8008909" y="1595850"/>
                </a:lnTo>
                <a:lnTo>
                  <a:pt x="8006515" y="1607714"/>
                </a:lnTo>
                <a:lnTo>
                  <a:pt x="7997403" y="1621214"/>
                </a:lnTo>
                <a:lnTo>
                  <a:pt x="7983899" y="1630303"/>
                </a:lnTo>
                <a:lnTo>
                  <a:pt x="7967376" y="1633689"/>
                </a:lnTo>
                <a:close/>
              </a:path>
            </a:pathLst>
          </a:custGeom>
          <a:solidFill>
            <a:srgbClr val="E9E7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63059" y="4340837"/>
            <a:ext cx="1914525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65">
                <a:solidFill>
                  <a:srgbClr val="494959"/>
                </a:solidFill>
                <a:latin typeface="Cambria"/>
                <a:cs typeface="Cambria"/>
              </a:rPr>
              <a:t>Source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Kaggle</a:t>
            </a:r>
            <a:r>
              <a:rPr dirty="0" sz="2150" spc="1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dataset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285683" y="4094559"/>
            <a:ext cx="8009255" cy="1633855"/>
          </a:xfrm>
          <a:custGeom>
            <a:avLst/>
            <a:gdLst/>
            <a:ahLst/>
            <a:cxnLst/>
            <a:rect l="l" t="t" r="r" b="b"/>
            <a:pathLst>
              <a:path w="8009255" h="1633854">
                <a:moveTo>
                  <a:pt x="7967566" y="1633689"/>
                </a:moveTo>
                <a:lnTo>
                  <a:pt x="42481" y="1633689"/>
                </a:lnTo>
                <a:lnTo>
                  <a:pt x="25985" y="1630303"/>
                </a:lnTo>
                <a:lnTo>
                  <a:pt x="12471" y="1621214"/>
                </a:lnTo>
                <a:lnTo>
                  <a:pt x="3356" y="1607714"/>
                </a:lnTo>
                <a:lnTo>
                  <a:pt x="0" y="1591151"/>
                </a:lnTo>
                <a:lnTo>
                  <a:pt x="0" y="42481"/>
                </a:lnTo>
                <a:lnTo>
                  <a:pt x="25958" y="3342"/>
                </a:lnTo>
                <a:lnTo>
                  <a:pt x="7967566" y="0"/>
                </a:lnTo>
                <a:lnTo>
                  <a:pt x="7984129" y="3342"/>
                </a:lnTo>
                <a:lnTo>
                  <a:pt x="7997630" y="12454"/>
                </a:lnTo>
                <a:lnTo>
                  <a:pt x="8006718" y="25958"/>
                </a:lnTo>
                <a:lnTo>
                  <a:pt x="8008909" y="36830"/>
                </a:lnTo>
                <a:lnTo>
                  <a:pt x="8008909" y="1596793"/>
                </a:lnTo>
                <a:lnTo>
                  <a:pt x="8006705" y="1607714"/>
                </a:lnTo>
                <a:lnTo>
                  <a:pt x="7997594" y="1621214"/>
                </a:lnTo>
                <a:lnTo>
                  <a:pt x="7984089" y="1630303"/>
                </a:lnTo>
                <a:lnTo>
                  <a:pt x="7967566" y="1633689"/>
                </a:lnTo>
                <a:close/>
              </a:path>
            </a:pathLst>
          </a:custGeom>
          <a:solidFill>
            <a:srgbClr val="E9E7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556505" y="4340837"/>
            <a:ext cx="221742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45">
                <a:solidFill>
                  <a:srgbClr val="494959"/>
                </a:solidFill>
                <a:latin typeface="Cambria"/>
                <a:cs typeface="Cambria"/>
              </a:rPr>
              <a:t>Size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992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samples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992238" y="6011760"/>
            <a:ext cx="8009255" cy="1633855"/>
          </a:xfrm>
          <a:custGeom>
            <a:avLst/>
            <a:gdLst/>
            <a:ahLst/>
            <a:cxnLst/>
            <a:rect l="l" t="t" r="r" b="b"/>
            <a:pathLst>
              <a:path w="8009255" h="1633854">
                <a:moveTo>
                  <a:pt x="7967376" y="1633689"/>
                </a:moveTo>
                <a:lnTo>
                  <a:pt x="42481" y="1633689"/>
                </a:lnTo>
                <a:lnTo>
                  <a:pt x="25984" y="1630303"/>
                </a:lnTo>
                <a:lnTo>
                  <a:pt x="12471" y="1621214"/>
                </a:lnTo>
                <a:lnTo>
                  <a:pt x="3356" y="1607714"/>
                </a:lnTo>
                <a:lnTo>
                  <a:pt x="0" y="1591151"/>
                </a:lnTo>
                <a:lnTo>
                  <a:pt x="0" y="42481"/>
                </a:lnTo>
                <a:lnTo>
                  <a:pt x="25958" y="3342"/>
                </a:lnTo>
                <a:lnTo>
                  <a:pt x="7967376" y="0"/>
                </a:lnTo>
                <a:lnTo>
                  <a:pt x="7983939" y="3342"/>
                </a:lnTo>
                <a:lnTo>
                  <a:pt x="7997439" y="12453"/>
                </a:lnTo>
                <a:lnTo>
                  <a:pt x="8006528" y="25958"/>
                </a:lnTo>
                <a:lnTo>
                  <a:pt x="8008909" y="37775"/>
                </a:lnTo>
                <a:lnTo>
                  <a:pt x="8008909" y="1595850"/>
                </a:lnTo>
                <a:lnTo>
                  <a:pt x="8006515" y="1607714"/>
                </a:lnTo>
                <a:lnTo>
                  <a:pt x="7997403" y="1621214"/>
                </a:lnTo>
                <a:lnTo>
                  <a:pt x="7983899" y="1630303"/>
                </a:lnTo>
                <a:lnTo>
                  <a:pt x="7967376" y="1633689"/>
                </a:lnTo>
                <a:close/>
              </a:path>
            </a:pathLst>
          </a:custGeom>
          <a:solidFill>
            <a:srgbClr val="E9E7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63059" y="6258038"/>
            <a:ext cx="484378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180">
                <a:solidFill>
                  <a:srgbClr val="494959"/>
                </a:solidFill>
                <a:latin typeface="Cambria"/>
                <a:cs typeface="Cambria"/>
              </a:rPr>
              <a:t>Classes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45">
                <a:solidFill>
                  <a:srgbClr val="494959"/>
                </a:solidFill>
                <a:latin typeface="Tahoma"/>
                <a:cs typeface="Tahoma"/>
              </a:rPr>
              <a:t>Anxiety,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Depression,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Normal,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Suicidal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9285683" y="6011760"/>
            <a:ext cx="8009255" cy="1633855"/>
          </a:xfrm>
          <a:custGeom>
            <a:avLst/>
            <a:gdLst/>
            <a:ahLst/>
            <a:cxnLst/>
            <a:rect l="l" t="t" r="r" b="b"/>
            <a:pathLst>
              <a:path w="8009255" h="1633854">
                <a:moveTo>
                  <a:pt x="7967566" y="1633689"/>
                </a:moveTo>
                <a:lnTo>
                  <a:pt x="42481" y="1633689"/>
                </a:lnTo>
                <a:lnTo>
                  <a:pt x="25984" y="1630303"/>
                </a:lnTo>
                <a:lnTo>
                  <a:pt x="12471" y="1621214"/>
                </a:lnTo>
                <a:lnTo>
                  <a:pt x="3356" y="1607714"/>
                </a:lnTo>
                <a:lnTo>
                  <a:pt x="0" y="1591151"/>
                </a:lnTo>
                <a:lnTo>
                  <a:pt x="0" y="42481"/>
                </a:lnTo>
                <a:lnTo>
                  <a:pt x="25958" y="3342"/>
                </a:lnTo>
                <a:lnTo>
                  <a:pt x="7967566" y="0"/>
                </a:lnTo>
                <a:lnTo>
                  <a:pt x="7984129" y="3342"/>
                </a:lnTo>
                <a:lnTo>
                  <a:pt x="7997630" y="12453"/>
                </a:lnTo>
                <a:lnTo>
                  <a:pt x="8006718" y="25958"/>
                </a:lnTo>
                <a:lnTo>
                  <a:pt x="8008909" y="36830"/>
                </a:lnTo>
                <a:lnTo>
                  <a:pt x="8008909" y="1596793"/>
                </a:lnTo>
                <a:lnTo>
                  <a:pt x="8006705" y="1607714"/>
                </a:lnTo>
                <a:lnTo>
                  <a:pt x="7997594" y="1621214"/>
                </a:lnTo>
                <a:lnTo>
                  <a:pt x="7984089" y="1630303"/>
                </a:lnTo>
                <a:lnTo>
                  <a:pt x="7967566" y="1633689"/>
                </a:lnTo>
                <a:close/>
              </a:path>
            </a:pathLst>
          </a:custGeom>
          <a:solidFill>
            <a:srgbClr val="E9E7F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9556505" y="6258038"/>
            <a:ext cx="521716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80">
                <a:solidFill>
                  <a:srgbClr val="494959"/>
                </a:solidFill>
                <a:latin typeface="Cambria"/>
                <a:cs typeface="Cambria"/>
              </a:rPr>
              <a:t>Quality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Balanced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distribution,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35">
                <a:solidFill>
                  <a:srgbClr val="494959"/>
                </a:solidFill>
                <a:latin typeface="Tahoma"/>
                <a:cs typeface="Tahoma"/>
              </a:rPr>
              <a:t>no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missing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values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341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525"/>
              <a:t>Exploratory</a:t>
            </a:r>
            <a:r>
              <a:rPr dirty="0" spc="380"/>
              <a:t> </a:t>
            </a:r>
            <a:r>
              <a:rPr dirty="0" spc="530"/>
              <a:t>Data</a:t>
            </a:r>
            <a:r>
              <a:rPr dirty="0" spc="385"/>
              <a:t> </a:t>
            </a:r>
            <a:r>
              <a:rPr dirty="0" spc="420"/>
              <a:t>Analysis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73188" y="4542386"/>
            <a:ext cx="5282565" cy="2655570"/>
            <a:chOff x="973188" y="4542386"/>
            <a:chExt cx="5282565" cy="2655570"/>
          </a:xfrm>
        </p:grpSpPr>
        <p:sp>
          <p:nvSpPr>
            <p:cNvPr id="4" name="object 4" descr=""/>
            <p:cNvSpPr/>
            <p:nvPr/>
          </p:nvSpPr>
          <p:spPr>
            <a:xfrm>
              <a:off x="992238" y="4561436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5" h="2617470">
                  <a:moveTo>
                    <a:pt x="5202649" y="2617088"/>
                  </a:moveTo>
                  <a:lnTo>
                    <a:pt x="42862" y="2617088"/>
                  </a:lnTo>
                  <a:lnTo>
                    <a:pt x="26266" y="2613759"/>
                  </a:lnTo>
                  <a:lnTo>
                    <a:pt x="12626" y="2604670"/>
                  </a:lnTo>
                  <a:lnTo>
                    <a:pt x="3402" y="2591169"/>
                  </a:lnTo>
                  <a:lnTo>
                    <a:pt x="0" y="2574606"/>
                  </a:lnTo>
                  <a:lnTo>
                    <a:pt x="0" y="42481"/>
                  </a:lnTo>
                  <a:lnTo>
                    <a:pt x="3362" y="25958"/>
                  </a:lnTo>
                  <a:lnTo>
                    <a:pt x="12537" y="12453"/>
                  </a:lnTo>
                  <a:lnTo>
                    <a:pt x="26159" y="3342"/>
                  </a:lnTo>
                  <a:lnTo>
                    <a:pt x="42862" y="0"/>
                  </a:lnTo>
                  <a:lnTo>
                    <a:pt x="5202649" y="0"/>
                  </a:lnTo>
                  <a:lnTo>
                    <a:pt x="5219312" y="3342"/>
                  </a:lnTo>
                  <a:lnTo>
                    <a:pt x="5232939" y="12453"/>
                  </a:lnTo>
                  <a:lnTo>
                    <a:pt x="5242136" y="25958"/>
                  </a:lnTo>
                  <a:lnTo>
                    <a:pt x="5245512" y="42481"/>
                  </a:lnTo>
                  <a:lnTo>
                    <a:pt x="5245512" y="2574606"/>
                  </a:lnTo>
                  <a:lnTo>
                    <a:pt x="5242150" y="2591169"/>
                  </a:lnTo>
                  <a:lnTo>
                    <a:pt x="5232975" y="2604670"/>
                  </a:lnTo>
                  <a:lnTo>
                    <a:pt x="5219352" y="2613759"/>
                  </a:lnTo>
                  <a:lnTo>
                    <a:pt x="5202649" y="261708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3188" y="4542386"/>
              <a:ext cx="5282565" cy="2655570"/>
            </a:xfrm>
            <a:custGeom>
              <a:avLst/>
              <a:gdLst/>
              <a:ahLst/>
              <a:cxnLst/>
              <a:rect l="l" t="t" r="r" b="b"/>
              <a:pathLst>
                <a:path w="5282565" h="2655570">
                  <a:moveTo>
                    <a:pt x="61901" y="2655188"/>
                  </a:moveTo>
                  <a:lnTo>
                    <a:pt x="61630" y="2655188"/>
                  </a:lnTo>
                  <a:lnTo>
                    <a:pt x="37893" y="2650369"/>
                  </a:lnTo>
                  <a:lnTo>
                    <a:pt x="18204" y="2637210"/>
                  </a:lnTo>
                  <a:lnTo>
                    <a:pt x="4892" y="2617657"/>
                  </a:lnTo>
                  <a:lnTo>
                    <a:pt x="0" y="2593657"/>
                  </a:lnTo>
                  <a:lnTo>
                    <a:pt x="0" y="61531"/>
                  </a:lnTo>
                  <a:lnTo>
                    <a:pt x="18168" y="17978"/>
                  </a:lnTo>
                  <a:lnTo>
                    <a:pt x="61912" y="0"/>
                  </a:lnTo>
                  <a:lnTo>
                    <a:pt x="5221699" y="0"/>
                  </a:lnTo>
                  <a:lnTo>
                    <a:pt x="5221699" y="19050"/>
                  </a:lnTo>
                  <a:lnTo>
                    <a:pt x="61912" y="19050"/>
                  </a:lnTo>
                  <a:lnTo>
                    <a:pt x="61912" y="38100"/>
                  </a:lnTo>
                  <a:lnTo>
                    <a:pt x="38100" y="2593657"/>
                  </a:lnTo>
                  <a:lnTo>
                    <a:pt x="39945" y="2602742"/>
                  </a:lnTo>
                  <a:lnTo>
                    <a:pt x="45005" y="2610194"/>
                  </a:lnTo>
                  <a:lnTo>
                    <a:pt x="52566" y="2615235"/>
                  </a:lnTo>
                  <a:lnTo>
                    <a:pt x="61912" y="2617088"/>
                  </a:lnTo>
                  <a:lnTo>
                    <a:pt x="5278849" y="2617088"/>
                  </a:lnTo>
                  <a:lnTo>
                    <a:pt x="5278733" y="2617657"/>
                  </a:lnTo>
                  <a:lnTo>
                    <a:pt x="5266171" y="2636138"/>
                  </a:lnTo>
                  <a:lnTo>
                    <a:pt x="61912" y="2636138"/>
                  </a:lnTo>
                  <a:lnTo>
                    <a:pt x="61901" y="2655188"/>
                  </a:lnTo>
                  <a:close/>
                </a:path>
                <a:path w="5282565" h="2655570">
                  <a:moveTo>
                    <a:pt x="5278849" y="2617088"/>
                  </a:moveTo>
                  <a:lnTo>
                    <a:pt x="5221699" y="2617088"/>
                  </a:lnTo>
                  <a:lnTo>
                    <a:pt x="5230939" y="2615235"/>
                  </a:lnTo>
                  <a:lnTo>
                    <a:pt x="5238517" y="2610194"/>
                  </a:lnTo>
                  <a:lnTo>
                    <a:pt x="5243626" y="2602742"/>
                  </a:lnTo>
                  <a:lnTo>
                    <a:pt x="5245512" y="2593657"/>
                  </a:lnTo>
                  <a:lnTo>
                    <a:pt x="5245512" y="61531"/>
                  </a:lnTo>
                  <a:lnTo>
                    <a:pt x="5243675" y="52485"/>
                  </a:lnTo>
                  <a:lnTo>
                    <a:pt x="5238631" y="45029"/>
                  </a:lnTo>
                  <a:lnTo>
                    <a:pt x="5231066" y="39966"/>
                  </a:lnTo>
                  <a:lnTo>
                    <a:pt x="5221699" y="38100"/>
                  </a:lnTo>
                  <a:lnTo>
                    <a:pt x="61912" y="38100"/>
                  </a:lnTo>
                  <a:lnTo>
                    <a:pt x="61912" y="19050"/>
                  </a:lnTo>
                  <a:lnTo>
                    <a:pt x="5221699" y="19050"/>
                  </a:lnTo>
                  <a:lnTo>
                    <a:pt x="5221699" y="0"/>
                  </a:lnTo>
                  <a:lnTo>
                    <a:pt x="5245719" y="4819"/>
                  </a:lnTo>
                  <a:lnTo>
                    <a:pt x="5265407" y="17978"/>
                  </a:lnTo>
                  <a:lnTo>
                    <a:pt x="5278720" y="37531"/>
                  </a:lnTo>
                  <a:lnTo>
                    <a:pt x="5281940" y="53329"/>
                  </a:lnTo>
                  <a:lnTo>
                    <a:pt x="5281940" y="2601881"/>
                  </a:lnTo>
                  <a:lnTo>
                    <a:pt x="5278849" y="2617088"/>
                  </a:lnTo>
                  <a:close/>
                </a:path>
                <a:path w="5282565" h="2655570">
                  <a:moveTo>
                    <a:pt x="5221699" y="2655188"/>
                  </a:moveTo>
                  <a:lnTo>
                    <a:pt x="61912" y="2655188"/>
                  </a:lnTo>
                  <a:lnTo>
                    <a:pt x="61912" y="2636138"/>
                  </a:lnTo>
                  <a:lnTo>
                    <a:pt x="5221699" y="2636138"/>
                  </a:lnTo>
                  <a:lnTo>
                    <a:pt x="5221699" y="2655188"/>
                  </a:lnTo>
                  <a:close/>
                </a:path>
                <a:path w="5282565" h="2655570">
                  <a:moveTo>
                    <a:pt x="5221699" y="2655188"/>
                  </a:moveTo>
                  <a:lnTo>
                    <a:pt x="5221699" y="2636138"/>
                  </a:lnTo>
                  <a:lnTo>
                    <a:pt x="5266171" y="2636138"/>
                  </a:lnTo>
                  <a:lnTo>
                    <a:pt x="5265443" y="2637210"/>
                  </a:lnTo>
                  <a:lnTo>
                    <a:pt x="5245759" y="2650369"/>
                  </a:lnTo>
                  <a:lnTo>
                    <a:pt x="5221699" y="265518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01159" y="4845805"/>
            <a:ext cx="4326890" cy="187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10">
                <a:solidFill>
                  <a:srgbClr val="494959"/>
                </a:solidFill>
                <a:latin typeface="Cambria"/>
                <a:cs typeface="Cambria"/>
              </a:rPr>
              <a:t>Class</a:t>
            </a:r>
            <a:r>
              <a:rPr dirty="0" sz="2750" spc="19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220">
                <a:solidFill>
                  <a:srgbClr val="494959"/>
                </a:solidFill>
                <a:latin typeface="Cambria"/>
                <a:cs typeface="Cambria"/>
              </a:rPr>
              <a:t>Distribution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Equal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representation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across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40">
                <a:solidFill>
                  <a:srgbClr val="494959"/>
                </a:solidFill>
                <a:latin typeface="Tahoma"/>
                <a:cs typeface="Tahoma"/>
              </a:rPr>
              <a:t>all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four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categories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ensures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balanced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training</a:t>
            </a:r>
            <a:r>
              <a:rPr dirty="0" sz="2150" spc="-11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evaluation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502155" y="4542386"/>
            <a:ext cx="5282565" cy="2655570"/>
            <a:chOff x="6502155" y="4542386"/>
            <a:chExt cx="5282565" cy="2655570"/>
          </a:xfrm>
        </p:grpSpPr>
        <p:sp>
          <p:nvSpPr>
            <p:cNvPr id="8" name="object 8" descr=""/>
            <p:cNvSpPr/>
            <p:nvPr/>
          </p:nvSpPr>
          <p:spPr>
            <a:xfrm>
              <a:off x="6521205" y="4561436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4" h="2617470">
                  <a:moveTo>
                    <a:pt x="5202649" y="2617088"/>
                  </a:moveTo>
                  <a:lnTo>
                    <a:pt x="42862" y="2617088"/>
                  </a:lnTo>
                  <a:lnTo>
                    <a:pt x="26266" y="2613759"/>
                  </a:lnTo>
                  <a:lnTo>
                    <a:pt x="12626" y="2604670"/>
                  </a:lnTo>
                  <a:lnTo>
                    <a:pt x="3402" y="2591169"/>
                  </a:lnTo>
                  <a:lnTo>
                    <a:pt x="0" y="2574606"/>
                  </a:lnTo>
                  <a:lnTo>
                    <a:pt x="0" y="42481"/>
                  </a:lnTo>
                  <a:lnTo>
                    <a:pt x="3362" y="25958"/>
                  </a:lnTo>
                  <a:lnTo>
                    <a:pt x="12537" y="12453"/>
                  </a:lnTo>
                  <a:lnTo>
                    <a:pt x="26159" y="3342"/>
                  </a:lnTo>
                  <a:lnTo>
                    <a:pt x="42862" y="0"/>
                  </a:lnTo>
                  <a:lnTo>
                    <a:pt x="5202649" y="0"/>
                  </a:lnTo>
                  <a:lnTo>
                    <a:pt x="5219312" y="3342"/>
                  </a:lnTo>
                  <a:lnTo>
                    <a:pt x="5232939" y="12453"/>
                  </a:lnTo>
                  <a:lnTo>
                    <a:pt x="5242136" y="25958"/>
                  </a:lnTo>
                  <a:lnTo>
                    <a:pt x="5245512" y="42481"/>
                  </a:lnTo>
                  <a:lnTo>
                    <a:pt x="5245512" y="2574606"/>
                  </a:lnTo>
                  <a:lnTo>
                    <a:pt x="5242150" y="2591169"/>
                  </a:lnTo>
                  <a:lnTo>
                    <a:pt x="5232975" y="2604670"/>
                  </a:lnTo>
                  <a:lnTo>
                    <a:pt x="5219352" y="2613759"/>
                  </a:lnTo>
                  <a:lnTo>
                    <a:pt x="5202649" y="261708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02155" y="4542386"/>
              <a:ext cx="5282565" cy="2655570"/>
            </a:xfrm>
            <a:custGeom>
              <a:avLst/>
              <a:gdLst/>
              <a:ahLst/>
              <a:cxnLst/>
              <a:rect l="l" t="t" r="r" b="b"/>
              <a:pathLst>
                <a:path w="5282565" h="2655570">
                  <a:moveTo>
                    <a:pt x="61901" y="2655188"/>
                  </a:moveTo>
                  <a:lnTo>
                    <a:pt x="61630" y="2655188"/>
                  </a:lnTo>
                  <a:lnTo>
                    <a:pt x="37893" y="2650369"/>
                  </a:lnTo>
                  <a:lnTo>
                    <a:pt x="18204" y="2637210"/>
                  </a:lnTo>
                  <a:lnTo>
                    <a:pt x="4892" y="2617657"/>
                  </a:lnTo>
                  <a:lnTo>
                    <a:pt x="0" y="2593657"/>
                  </a:lnTo>
                  <a:lnTo>
                    <a:pt x="0" y="61531"/>
                  </a:lnTo>
                  <a:lnTo>
                    <a:pt x="4763" y="38100"/>
                  </a:lnTo>
                  <a:lnTo>
                    <a:pt x="4878" y="37531"/>
                  </a:lnTo>
                  <a:lnTo>
                    <a:pt x="18169" y="17978"/>
                  </a:lnTo>
                  <a:lnTo>
                    <a:pt x="37853" y="4819"/>
                  </a:lnTo>
                  <a:lnTo>
                    <a:pt x="61912" y="0"/>
                  </a:lnTo>
                  <a:lnTo>
                    <a:pt x="5221699" y="0"/>
                  </a:lnTo>
                  <a:lnTo>
                    <a:pt x="5221699" y="19050"/>
                  </a:lnTo>
                  <a:lnTo>
                    <a:pt x="61912" y="19050"/>
                  </a:lnTo>
                  <a:lnTo>
                    <a:pt x="61912" y="38100"/>
                  </a:lnTo>
                  <a:lnTo>
                    <a:pt x="38100" y="2593657"/>
                  </a:lnTo>
                  <a:lnTo>
                    <a:pt x="39945" y="2602742"/>
                  </a:lnTo>
                  <a:lnTo>
                    <a:pt x="45005" y="2610194"/>
                  </a:lnTo>
                  <a:lnTo>
                    <a:pt x="52566" y="2615235"/>
                  </a:lnTo>
                  <a:lnTo>
                    <a:pt x="61912" y="2617088"/>
                  </a:lnTo>
                  <a:lnTo>
                    <a:pt x="5278850" y="2617088"/>
                  </a:lnTo>
                  <a:lnTo>
                    <a:pt x="5278734" y="2617657"/>
                  </a:lnTo>
                  <a:lnTo>
                    <a:pt x="5266172" y="2636138"/>
                  </a:lnTo>
                  <a:lnTo>
                    <a:pt x="61912" y="2636138"/>
                  </a:lnTo>
                  <a:lnTo>
                    <a:pt x="61901" y="2655188"/>
                  </a:lnTo>
                  <a:close/>
                </a:path>
                <a:path w="5282565" h="2655570">
                  <a:moveTo>
                    <a:pt x="5278850" y="2617088"/>
                  </a:moveTo>
                  <a:lnTo>
                    <a:pt x="5221699" y="2617088"/>
                  </a:lnTo>
                  <a:lnTo>
                    <a:pt x="5230939" y="2615235"/>
                  </a:lnTo>
                  <a:lnTo>
                    <a:pt x="5238518" y="2610194"/>
                  </a:lnTo>
                  <a:lnTo>
                    <a:pt x="5243626" y="2602742"/>
                  </a:lnTo>
                  <a:lnTo>
                    <a:pt x="5245513" y="2593657"/>
                  </a:lnTo>
                  <a:lnTo>
                    <a:pt x="5245513" y="61531"/>
                  </a:lnTo>
                  <a:lnTo>
                    <a:pt x="5243675" y="52485"/>
                  </a:lnTo>
                  <a:lnTo>
                    <a:pt x="5238631" y="45029"/>
                  </a:lnTo>
                  <a:lnTo>
                    <a:pt x="5231066" y="39966"/>
                  </a:lnTo>
                  <a:lnTo>
                    <a:pt x="5221699" y="38100"/>
                  </a:lnTo>
                  <a:lnTo>
                    <a:pt x="61912" y="38100"/>
                  </a:lnTo>
                  <a:lnTo>
                    <a:pt x="61912" y="19050"/>
                  </a:lnTo>
                  <a:lnTo>
                    <a:pt x="5221699" y="19050"/>
                  </a:lnTo>
                  <a:lnTo>
                    <a:pt x="5221699" y="0"/>
                  </a:lnTo>
                  <a:lnTo>
                    <a:pt x="5245719" y="4819"/>
                  </a:lnTo>
                  <a:lnTo>
                    <a:pt x="5265408" y="17978"/>
                  </a:lnTo>
                  <a:lnTo>
                    <a:pt x="5278721" y="37531"/>
                  </a:lnTo>
                  <a:lnTo>
                    <a:pt x="5281940" y="53326"/>
                  </a:lnTo>
                  <a:lnTo>
                    <a:pt x="5281940" y="2601885"/>
                  </a:lnTo>
                  <a:lnTo>
                    <a:pt x="5278850" y="2617088"/>
                  </a:lnTo>
                  <a:close/>
                </a:path>
                <a:path w="5282565" h="2655570">
                  <a:moveTo>
                    <a:pt x="5221699" y="2655188"/>
                  </a:moveTo>
                  <a:lnTo>
                    <a:pt x="61912" y="2655188"/>
                  </a:lnTo>
                  <a:lnTo>
                    <a:pt x="61912" y="2636138"/>
                  </a:lnTo>
                  <a:lnTo>
                    <a:pt x="5221699" y="2636138"/>
                  </a:lnTo>
                  <a:lnTo>
                    <a:pt x="5221699" y="2655188"/>
                  </a:lnTo>
                  <a:close/>
                </a:path>
                <a:path w="5282565" h="2655570">
                  <a:moveTo>
                    <a:pt x="5221699" y="2655188"/>
                  </a:moveTo>
                  <a:lnTo>
                    <a:pt x="5221699" y="2636138"/>
                  </a:lnTo>
                  <a:lnTo>
                    <a:pt x="5266172" y="2636138"/>
                  </a:lnTo>
                  <a:lnTo>
                    <a:pt x="5265443" y="2637210"/>
                  </a:lnTo>
                  <a:lnTo>
                    <a:pt x="5245759" y="2650369"/>
                  </a:lnTo>
                  <a:lnTo>
                    <a:pt x="5221699" y="265518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830117" y="4845805"/>
            <a:ext cx="4507230" cy="18783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05">
                <a:solidFill>
                  <a:srgbClr val="494959"/>
                </a:solidFill>
                <a:latin typeface="Cambria"/>
                <a:cs typeface="Cambria"/>
              </a:rPr>
              <a:t>Text</a:t>
            </a:r>
            <a:r>
              <a:rPr dirty="0" sz="2750" spc="19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190">
                <a:solidFill>
                  <a:srgbClr val="494959"/>
                </a:solidFill>
                <a:latin typeface="Cambria"/>
                <a:cs typeface="Cambria"/>
              </a:rPr>
              <a:t>Characteristics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145">
                <a:solidFill>
                  <a:srgbClr val="494959"/>
                </a:solidFill>
                <a:latin typeface="Tahoma"/>
                <a:cs typeface="Tahoma"/>
              </a:rPr>
              <a:t>Mean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length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exceeds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median,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indicating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positive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skew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and presence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of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longer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outlier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samples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2031112" y="4542386"/>
            <a:ext cx="5282565" cy="2655570"/>
            <a:chOff x="12031112" y="4542386"/>
            <a:chExt cx="5282565" cy="2655570"/>
          </a:xfrm>
        </p:grpSpPr>
        <p:sp>
          <p:nvSpPr>
            <p:cNvPr id="12" name="object 12" descr=""/>
            <p:cNvSpPr/>
            <p:nvPr/>
          </p:nvSpPr>
          <p:spPr>
            <a:xfrm>
              <a:off x="12050162" y="4561436"/>
              <a:ext cx="5245735" cy="2617470"/>
            </a:xfrm>
            <a:custGeom>
              <a:avLst/>
              <a:gdLst/>
              <a:ahLst/>
              <a:cxnLst/>
              <a:rect l="l" t="t" r="r" b="b"/>
              <a:pathLst>
                <a:path w="5245734" h="2617470">
                  <a:moveTo>
                    <a:pt x="5202650" y="2617088"/>
                  </a:moveTo>
                  <a:lnTo>
                    <a:pt x="42862" y="2617088"/>
                  </a:lnTo>
                  <a:lnTo>
                    <a:pt x="26266" y="2613759"/>
                  </a:lnTo>
                  <a:lnTo>
                    <a:pt x="12626" y="2604670"/>
                  </a:lnTo>
                  <a:lnTo>
                    <a:pt x="3402" y="2591169"/>
                  </a:lnTo>
                  <a:lnTo>
                    <a:pt x="0" y="2574606"/>
                  </a:lnTo>
                  <a:lnTo>
                    <a:pt x="0" y="42481"/>
                  </a:lnTo>
                  <a:lnTo>
                    <a:pt x="3362" y="25958"/>
                  </a:lnTo>
                  <a:lnTo>
                    <a:pt x="12537" y="12453"/>
                  </a:lnTo>
                  <a:lnTo>
                    <a:pt x="26159" y="3342"/>
                  </a:lnTo>
                  <a:lnTo>
                    <a:pt x="42862" y="0"/>
                  </a:lnTo>
                  <a:lnTo>
                    <a:pt x="5202650" y="0"/>
                  </a:lnTo>
                  <a:lnTo>
                    <a:pt x="5219313" y="3342"/>
                  </a:lnTo>
                  <a:lnTo>
                    <a:pt x="5232939" y="12453"/>
                  </a:lnTo>
                  <a:lnTo>
                    <a:pt x="5242137" y="25958"/>
                  </a:lnTo>
                  <a:lnTo>
                    <a:pt x="5245512" y="42481"/>
                  </a:lnTo>
                  <a:lnTo>
                    <a:pt x="5245512" y="2574606"/>
                  </a:lnTo>
                  <a:lnTo>
                    <a:pt x="5242150" y="2591169"/>
                  </a:lnTo>
                  <a:lnTo>
                    <a:pt x="5232975" y="2604670"/>
                  </a:lnTo>
                  <a:lnTo>
                    <a:pt x="5219353" y="2613759"/>
                  </a:lnTo>
                  <a:lnTo>
                    <a:pt x="5202650" y="261708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031112" y="4542386"/>
              <a:ext cx="5282565" cy="2655570"/>
            </a:xfrm>
            <a:custGeom>
              <a:avLst/>
              <a:gdLst/>
              <a:ahLst/>
              <a:cxnLst/>
              <a:rect l="l" t="t" r="r" b="b"/>
              <a:pathLst>
                <a:path w="5282565" h="2655570">
                  <a:moveTo>
                    <a:pt x="61901" y="2655188"/>
                  </a:moveTo>
                  <a:lnTo>
                    <a:pt x="61630" y="2655188"/>
                  </a:lnTo>
                  <a:lnTo>
                    <a:pt x="37893" y="2650369"/>
                  </a:lnTo>
                  <a:lnTo>
                    <a:pt x="18204" y="2637210"/>
                  </a:lnTo>
                  <a:lnTo>
                    <a:pt x="4892" y="2617657"/>
                  </a:lnTo>
                  <a:lnTo>
                    <a:pt x="0" y="2593657"/>
                  </a:lnTo>
                  <a:lnTo>
                    <a:pt x="0" y="61531"/>
                  </a:lnTo>
                  <a:lnTo>
                    <a:pt x="18169" y="17978"/>
                  </a:lnTo>
                  <a:lnTo>
                    <a:pt x="61912" y="0"/>
                  </a:lnTo>
                  <a:lnTo>
                    <a:pt x="5221700" y="0"/>
                  </a:lnTo>
                  <a:lnTo>
                    <a:pt x="5221700" y="19050"/>
                  </a:lnTo>
                  <a:lnTo>
                    <a:pt x="61912" y="19050"/>
                  </a:lnTo>
                  <a:lnTo>
                    <a:pt x="61912" y="38100"/>
                  </a:lnTo>
                  <a:lnTo>
                    <a:pt x="38100" y="2593657"/>
                  </a:lnTo>
                  <a:lnTo>
                    <a:pt x="39945" y="2602742"/>
                  </a:lnTo>
                  <a:lnTo>
                    <a:pt x="45005" y="2610194"/>
                  </a:lnTo>
                  <a:lnTo>
                    <a:pt x="52566" y="2615235"/>
                  </a:lnTo>
                  <a:lnTo>
                    <a:pt x="61912" y="2617088"/>
                  </a:lnTo>
                  <a:lnTo>
                    <a:pt x="5278850" y="2617088"/>
                  </a:lnTo>
                  <a:lnTo>
                    <a:pt x="5278734" y="2617657"/>
                  </a:lnTo>
                  <a:lnTo>
                    <a:pt x="5266172" y="2636138"/>
                  </a:lnTo>
                  <a:lnTo>
                    <a:pt x="61912" y="2636138"/>
                  </a:lnTo>
                  <a:lnTo>
                    <a:pt x="61901" y="2655188"/>
                  </a:lnTo>
                  <a:close/>
                </a:path>
                <a:path w="5282565" h="2655570">
                  <a:moveTo>
                    <a:pt x="5278850" y="2617088"/>
                  </a:moveTo>
                  <a:lnTo>
                    <a:pt x="5221700" y="2617088"/>
                  </a:lnTo>
                  <a:lnTo>
                    <a:pt x="5230940" y="2615235"/>
                  </a:lnTo>
                  <a:lnTo>
                    <a:pt x="5238518" y="2610194"/>
                  </a:lnTo>
                  <a:lnTo>
                    <a:pt x="5243627" y="2602742"/>
                  </a:lnTo>
                  <a:lnTo>
                    <a:pt x="5245513" y="2593657"/>
                  </a:lnTo>
                  <a:lnTo>
                    <a:pt x="5245513" y="61531"/>
                  </a:lnTo>
                  <a:lnTo>
                    <a:pt x="5243676" y="52485"/>
                  </a:lnTo>
                  <a:lnTo>
                    <a:pt x="5238631" y="45029"/>
                  </a:lnTo>
                  <a:lnTo>
                    <a:pt x="5231067" y="39966"/>
                  </a:lnTo>
                  <a:lnTo>
                    <a:pt x="5221700" y="38100"/>
                  </a:lnTo>
                  <a:lnTo>
                    <a:pt x="61912" y="38100"/>
                  </a:lnTo>
                  <a:lnTo>
                    <a:pt x="61912" y="19050"/>
                  </a:lnTo>
                  <a:lnTo>
                    <a:pt x="5221700" y="19050"/>
                  </a:lnTo>
                  <a:lnTo>
                    <a:pt x="5221700" y="0"/>
                  </a:lnTo>
                  <a:lnTo>
                    <a:pt x="5245720" y="4819"/>
                  </a:lnTo>
                  <a:lnTo>
                    <a:pt x="5265408" y="17978"/>
                  </a:lnTo>
                  <a:lnTo>
                    <a:pt x="5278721" y="37531"/>
                  </a:lnTo>
                  <a:lnTo>
                    <a:pt x="5281940" y="53325"/>
                  </a:lnTo>
                  <a:lnTo>
                    <a:pt x="5281940" y="2601885"/>
                  </a:lnTo>
                  <a:lnTo>
                    <a:pt x="5278850" y="2617088"/>
                  </a:lnTo>
                  <a:close/>
                </a:path>
                <a:path w="5282565" h="2655570">
                  <a:moveTo>
                    <a:pt x="5221700" y="2655188"/>
                  </a:moveTo>
                  <a:lnTo>
                    <a:pt x="61912" y="2655188"/>
                  </a:lnTo>
                  <a:lnTo>
                    <a:pt x="61912" y="2636138"/>
                  </a:lnTo>
                  <a:lnTo>
                    <a:pt x="5221700" y="2636138"/>
                  </a:lnTo>
                  <a:lnTo>
                    <a:pt x="5221700" y="2655188"/>
                  </a:lnTo>
                  <a:close/>
                </a:path>
                <a:path w="5282565" h="2655570">
                  <a:moveTo>
                    <a:pt x="5221700" y="2655188"/>
                  </a:moveTo>
                  <a:lnTo>
                    <a:pt x="5221700" y="2636138"/>
                  </a:lnTo>
                  <a:lnTo>
                    <a:pt x="5266172" y="2636138"/>
                  </a:lnTo>
                  <a:lnTo>
                    <a:pt x="5265444" y="2637210"/>
                  </a:lnTo>
                  <a:lnTo>
                    <a:pt x="5245760" y="2650369"/>
                  </a:lnTo>
                  <a:lnTo>
                    <a:pt x="5221700" y="265518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2359083" y="4845805"/>
            <a:ext cx="4571365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70">
                <a:solidFill>
                  <a:srgbClr val="494959"/>
                </a:solidFill>
                <a:latin typeface="Cambria"/>
                <a:cs typeface="Cambria"/>
              </a:rPr>
              <a:t>Word</a:t>
            </a:r>
            <a:r>
              <a:rPr dirty="0" sz="2750" spc="18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265">
                <a:solidFill>
                  <a:srgbClr val="494959"/>
                </a:solidFill>
                <a:latin typeface="Cambria"/>
                <a:cs typeface="Cambria"/>
              </a:rPr>
              <a:t>Frequency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Analysis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revealed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distinct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patterns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before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after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stopword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removal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048091"/>
            <a:ext cx="828167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455"/>
              <a:t>Preprocessing</a:t>
            </a:r>
            <a:r>
              <a:rPr dirty="0" spc="420"/>
              <a:t> </a:t>
            </a:r>
            <a:r>
              <a:rPr dirty="0" spc="480"/>
              <a:t>Pipeline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272984" y="3524904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94959"/>
                </a:solidFill>
                <a:latin typeface="Cambria"/>
                <a:cs typeface="Cambria"/>
              </a:rPr>
              <a:t>02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272984" y="4185008"/>
            <a:ext cx="7207884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40">
                <a:solidFill>
                  <a:srgbClr val="494959"/>
                </a:solidFill>
                <a:latin typeface="Cambria"/>
                <a:cs typeface="Cambria"/>
              </a:rPr>
              <a:t>Special</a:t>
            </a:r>
            <a:r>
              <a:rPr dirty="0" sz="2750" spc="19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250">
                <a:solidFill>
                  <a:srgbClr val="494959"/>
                </a:solidFill>
                <a:latin typeface="Cambria"/>
                <a:cs typeface="Cambria"/>
              </a:rPr>
              <a:t>Character</a:t>
            </a:r>
            <a:r>
              <a:rPr dirty="0" sz="2750" spc="19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300">
                <a:solidFill>
                  <a:srgbClr val="494959"/>
                </a:solidFill>
                <a:latin typeface="Cambria"/>
                <a:cs typeface="Cambria"/>
              </a:rPr>
              <a:t>Removal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Eliminated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punctuation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non-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alphanumeric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symbols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79538" y="3524904"/>
            <a:ext cx="6978650" cy="38677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45">
                <a:solidFill>
                  <a:srgbClr val="494959"/>
                </a:solidFill>
                <a:latin typeface="Cambria"/>
                <a:cs typeface="Cambria"/>
              </a:rPr>
              <a:t>01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750" spc="229">
                <a:solidFill>
                  <a:srgbClr val="494959"/>
                </a:solidFill>
                <a:latin typeface="Cambria"/>
                <a:cs typeface="Cambria"/>
              </a:rPr>
              <a:t>Lowercasing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Standardized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to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lowercase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for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consistency</a:t>
            </a:r>
            <a:endParaRPr sz="2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230"/>
              </a:spcBef>
            </a:pP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2150" spc="229">
                <a:solidFill>
                  <a:srgbClr val="494959"/>
                </a:solidFill>
                <a:latin typeface="Cambria"/>
                <a:cs typeface="Cambria"/>
              </a:rPr>
              <a:t>03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1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750" spc="270">
                <a:solidFill>
                  <a:srgbClr val="494959"/>
                </a:solidFill>
                <a:latin typeface="Cambria"/>
                <a:cs typeface="Cambria"/>
              </a:rPr>
              <a:t>Stopword</a:t>
            </a:r>
            <a:r>
              <a:rPr dirty="0" sz="2750" spc="185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300">
                <a:solidFill>
                  <a:srgbClr val="494959"/>
                </a:solidFill>
                <a:latin typeface="Cambria"/>
                <a:cs typeface="Cambria"/>
              </a:rPr>
              <a:t>Removal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Filtered</a:t>
            </a:r>
            <a:r>
              <a:rPr dirty="0" sz="2150" spc="-11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50">
                <a:solidFill>
                  <a:srgbClr val="494959"/>
                </a:solidFill>
                <a:latin typeface="Tahoma"/>
                <a:cs typeface="Tahoma"/>
              </a:rPr>
              <a:t>common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words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to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focus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35">
                <a:solidFill>
                  <a:srgbClr val="494959"/>
                </a:solidFill>
                <a:latin typeface="Tahoma"/>
                <a:cs typeface="Tahoma"/>
              </a:rPr>
              <a:t>on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meaningful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terms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272984" y="5749295"/>
            <a:ext cx="38671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95">
                <a:solidFill>
                  <a:srgbClr val="494959"/>
                </a:solidFill>
                <a:latin typeface="Cambria"/>
                <a:cs typeface="Cambria"/>
              </a:rPr>
              <a:t>04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272984" y="6409391"/>
            <a:ext cx="791337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20">
                <a:solidFill>
                  <a:srgbClr val="494959"/>
                </a:solidFill>
                <a:latin typeface="Cambria"/>
                <a:cs typeface="Cambria"/>
              </a:rPr>
              <a:t>Feature</a:t>
            </a:r>
            <a:r>
              <a:rPr dirty="0" sz="2750" spc="190">
                <a:solidFill>
                  <a:srgbClr val="494959"/>
                </a:solidFill>
                <a:latin typeface="Cambria"/>
                <a:cs typeface="Cambria"/>
              </a:rPr>
              <a:t> </a:t>
            </a:r>
            <a:r>
              <a:rPr dirty="0" sz="2750" spc="225">
                <a:solidFill>
                  <a:srgbClr val="494959"/>
                </a:solidFill>
                <a:latin typeface="Cambria"/>
                <a:cs typeface="Cambria"/>
              </a:rPr>
              <a:t>Extraction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Generated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TF-</a:t>
            </a:r>
            <a:r>
              <a:rPr dirty="0" sz="2150" spc="-20">
                <a:solidFill>
                  <a:srgbClr val="494959"/>
                </a:solidFill>
                <a:latin typeface="Tahoma"/>
                <a:cs typeface="Tahoma"/>
              </a:rPr>
              <a:t>IDF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vectors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using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unigram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bigram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n-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grams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052253"/>
            <a:ext cx="1221105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715"/>
              <a:t>Model</a:t>
            </a:r>
            <a:r>
              <a:rPr dirty="0" spc="380"/>
              <a:t> </a:t>
            </a:r>
            <a:r>
              <a:rPr dirty="0" spc="-254"/>
              <a:t>1:</a:t>
            </a:r>
            <a:r>
              <a:rPr dirty="0" spc="385"/>
              <a:t> </a:t>
            </a:r>
            <a:r>
              <a:rPr dirty="0" spc="575"/>
              <a:t>Support</a:t>
            </a:r>
            <a:r>
              <a:rPr dirty="0" spc="380"/>
              <a:t> </a:t>
            </a:r>
            <a:r>
              <a:rPr dirty="0" spc="530"/>
              <a:t>Vector</a:t>
            </a:r>
            <a:r>
              <a:rPr dirty="0" spc="385"/>
              <a:t> </a:t>
            </a:r>
            <a:r>
              <a:rPr dirty="0" spc="645"/>
              <a:t>Machine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54138" y="3545680"/>
            <a:ext cx="8067675" cy="2202180"/>
            <a:chOff x="954138" y="3545680"/>
            <a:chExt cx="8067675" cy="2202180"/>
          </a:xfrm>
        </p:grpSpPr>
        <p:sp>
          <p:nvSpPr>
            <p:cNvPr id="4" name="object 4" descr=""/>
            <p:cNvSpPr/>
            <p:nvPr/>
          </p:nvSpPr>
          <p:spPr>
            <a:xfrm>
              <a:off x="992238" y="356473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69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692" y="0"/>
                  </a:lnTo>
                  <a:lnTo>
                    <a:pt x="7873935" y="6535"/>
                  </a:lnTo>
                  <a:lnTo>
                    <a:pt x="7918188" y="24976"/>
                  </a:lnTo>
                  <a:lnTo>
                    <a:pt x="7955684" y="53578"/>
                  </a:lnTo>
                  <a:lnTo>
                    <a:pt x="7984655" y="90593"/>
                  </a:lnTo>
                  <a:lnTo>
                    <a:pt x="8003334" y="134276"/>
                  </a:lnTo>
                  <a:lnTo>
                    <a:pt x="8009953" y="182879"/>
                  </a:lnTo>
                  <a:lnTo>
                    <a:pt x="8009953" y="1980628"/>
                  </a:lnTo>
                  <a:lnTo>
                    <a:pt x="8003334" y="2029232"/>
                  </a:lnTo>
                  <a:lnTo>
                    <a:pt x="7984655" y="2072915"/>
                  </a:lnTo>
                  <a:lnTo>
                    <a:pt x="7955684" y="2109930"/>
                  </a:lnTo>
                  <a:lnTo>
                    <a:pt x="7918188" y="2138531"/>
                  </a:lnTo>
                  <a:lnTo>
                    <a:pt x="7873935" y="2156973"/>
                  </a:lnTo>
                  <a:lnTo>
                    <a:pt x="782469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3188" y="354568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20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2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30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742" y="0"/>
                  </a:lnTo>
                  <a:lnTo>
                    <a:pt x="7843742" y="19050"/>
                  </a:lnTo>
                  <a:lnTo>
                    <a:pt x="204311" y="19050"/>
                  </a:lnTo>
                  <a:lnTo>
                    <a:pt x="204311" y="38100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4" y="119323"/>
                  </a:lnTo>
                  <a:lnTo>
                    <a:pt x="44022" y="158441"/>
                  </a:lnTo>
                  <a:lnTo>
                    <a:pt x="38100" y="201930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4" y="2082285"/>
                  </a:lnTo>
                  <a:lnTo>
                    <a:pt x="86701" y="2115455"/>
                  </a:lnTo>
                  <a:lnTo>
                    <a:pt x="120325" y="2141100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547" y="2163508"/>
                  </a:lnTo>
                  <a:lnTo>
                    <a:pt x="7933482" y="2181120"/>
                  </a:lnTo>
                  <a:lnTo>
                    <a:pt x="7929406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547" y="2163508"/>
                  </a:moveTo>
                  <a:lnTo>
                    <a:pt x="7843742" y="2163508"/>
                  </a:lnTo>
                  <a:lnTo>
                    <a:pt x="7888002" y="2157643"/>
                  </a:lnTo>
                  <a:lnTo>
                    <a:pt x="7927728" y="2141100"/>
                  </a:lnTo>
                  <a:lnTo>
                    <a:pt x="7961352" y="2115455"/>
                  </a:lnTo>
                  <a:lnTo>
                    <a:pt x="7987308" y="2082285"/>
                  </a:lnTo>
                  <a:lnTo>
                    <a:pt x="8004031" y="2043167"/>
                  </a:lnTo>
                  <a:lnTo>
                    <a:pt x="8009953" y="1999678"/>
                  </a:lnTo>
                  <a:lnTo>
                    <a:pt x="8009953" y="201930"/>
                  </a:lnTo>
                  <a:lnTo>
                    <a:pt x="8004031" y="158441"/>
                  </a:lnTo>
                  <a:lnTo>
                    <a:pt x="7987308" y="119323"/>
                  </a:lnTo>
                  <a:lnTo>
                    <a:pt x="7961352" y="86153"/>
                  </a:lnTo>
                  <a:lnTo>
                    <a:pt x="7927728" y="60508"/>
                  </a:lnTo>
                  <a:lnTo>
                    <a:pt x="7888002" y="43964"/>
                  </a:lnTo>
                  <a:lnTo>
                    <a:pt x="7843742" y="38100"/>
                  </a:lnTo>
                  <a:lnTo>
                    <a:pt x="204311" y="38100"/>
                  </a:lnTo>
                  <a:lnTo>
                    <a:pt x="204311" y="19050"/>
                  </a:lnTo>
                  <a:lnTo>
                    <a:pt x="7843742" y="19050"/>
                  </a:lnTo>
                  <a:lnTo>
                    <a:pt x="7843742" y="0"/>
                  </a:lnTo>
                  <a:lnTo>
                    <a:pt x="7890509" y="5322"/>
                  </a:lnTo>
                  <a:lnTo>
                    <a:pt x="7933482" y="20488"/>
                  </a:lnTo>
                  <a:lnTo>
                    <a:pt x="7971422" y="44297"/>
                  </a:lnTo>
                  <a:lnTo>
                    <a:pt x="8003089" y="75546"/>
                  </a:lnTo>
                  <a:lnTo>
                    <a:pt x="8027243" y="113036"/>
                  </a:lnTo>
                  <a:lnTo>
                    <a:pt x="8042644" y="155564"/>
                  </a:lnTo>
                  <a:lnTo>
                    <a:pt x="8048053" y="201930"/>
                  </a:lnTo>
                  <a:lnTo>
                    <a:pt x="8048053" y="1999678"/>
                  </a:lnTo>
                  <a:lnTo>
                    <a:pt x="8042644" y="2046043"/>
                  </a:lnTo>
                  <a:lnTo>
                    <a:pt x="8027243" y="2088572"/>
                  </a:lnTo>
                  <a:lnTo>
                    <a:pt x="8003089" y="2126061"/>
                  </a:lnTo>
                  <a:lnTo>
                    <a:pt x="7971422" y="2157311"/>
                  </a:lnTo>
                  <a:lnTo>
                    <a:pt x="7961547" y="21635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742" y="2182558"/>
                  </a:lnTo>
                  <a:lnTo>
                    <a:pt x="7843742" y="22016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7843742" y="2182558"/>
                  </a:lnTo>
                  <a:lnTo>
                    <a:pt x="7929406" y="2182558"/>
                  </a:lnTo>
                  <a:lnTo>
                    <a:pt x="7890509" y="2196286"/>
                  </a:lnTo>
                  <a:lnTo>
                    <a:pt x="784374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138" y="3564731"/>
              <a:ext cx="152352" cy="216336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15459" y="3849109"/>
            <a:ext cx="620522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15">
                <a:solidFill>
                  <a:srgbClr val="494959"/>
                </a:solidFill>
                <a:latin typeface="Cambria"/>
                <a:cs typeface="Cambria"/>
              </a:rPr>
              <a:t>Architecture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Linear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SVM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classifier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with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TF-</a:t>
            </a:r>
            <a:r>
              <a:rPr dirty="0" sz="2150" spc="-20">
                <a:solidFill>
                  <a:srgbClr val="494959"/>
                </a:solidFill>
                <a:latin typeface="Tahoma"/>
                <a:cs typeface="Tahoma"/>
              </a:rPr>
              <a:t>IDF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feature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vectors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247584" y="3545680"/>
            <a:ext cx="8067675" cy="2202180"/>
            <a:chOff x="9247584" y="3545680"/>
            <a:chExt cx="8067675" cy="2202180"/>
          </a:xfrm>
        </p:grpSpPr>
        <p:sp>
          <p:nvSpPr>
            <p:cNvPr id="9" name="object 9" descr=""/>
            <p:cNvSpPr/>
            <p:nvPr/>
          </p:nvSpPr>
          <p:spPr>
            <a:xfrm>
              <a:off x="9285684" y="356473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88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882" y="0"/>
                  </a:lnTo>
                  <a:lnTo>
                    <a:pt x="7874125" y="6535"/>
                  </a:lnTo>
                  <a:lnTo>
                    <a:pt x="7918379" y="24976"/>
                  </a:lnTo>
                  <a:lnTo>
                    <a:pt x="7955875" y="53578"/>
                  </a:lnTo>
                  <a:lnTo>
                    <a:pt x="7984846" y="90593"/>
                  </a:lnTo>
                  <a:lnTo>
                    <a:pt x="8003524" y="134276"/>
                  </a:lnTo>
                  <a:lnTo>
                    <a:pt x="8010143" y="182879"/>
                  </a:lnTo>
                  <a:lnTo>
                    <a:pt x="8010143" y="1980628"/>
                  </a:lnTo>
                  <a:lnTo>
                    <a:pt x="8003524" y="2029232"/>
                  </a:lnTo>
                  <a:lnTo>
                    <a:pt x="7984846" y="2072915"/>
                  </a:lnTo>
                  <a:lnTo>
                    <a:pt x="7955875" y="2109930"/>
                  </a:lnTo>
                  <a:lnTo>
                    <a:pt x="7918379" y="2138531"/>
                  </a:lnTo>
                  <a:lnTo>
                    <a:pt x="7874125" y="2156973"/>
                  </a:lnTo>
                  <a:lnTo>
                    <a:pt x="782488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266634" y="354568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20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2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30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932" y="0"/>
                  </a:lnTo>
                  <a:lnTo>
                    <a:pt x="7843932" y="19050"/>
                  </a:lnTo>
                  <a:lnTo>
                    <a:pt x="204311" y="19050"/>
                  </a:lnTo>
                  <a:lnTo>
                    <a:pt x="204311" y="38100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5" y="119323"/>
                  </a:lnTo>
                  <a:lnTo>
                    <a:pt x="44022" y="158441"/>
                  </a:lnTo>
                  <a:lnTo>
                    <a:pt x="38100" y="201930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5" y="2082285"/>
                  </a:lnTo>
                  <a:lnTo>
                    <a:pt x="86701" y="2115455"/>
                  </a:lnTo>
                  <a:lnTo>
                    <a:pt x="120325" y="2141100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737" y="2163508"/>
                  </a:lnTo>
                  <a:lnTo>
                    <a:pt x="7933673" y="2181120"/>
                  </a:lnTo>
                  <a:lnTo>
                    <a:pt x="7929597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737" y="2163508"/>
                  </a:moveTo>
                  <a:lnTo>
                    <a:pt x="7843932" y="2163508"/>
                  </a:lnTo>
                  <a:lnTo>
                    <a:pt x="7888193" y="2157643"/>
                  </a:lnTo>
                  <a:lnTo>
                    <a:pt x="7927918" y="2141100"/>
                  </a:lnTo>
                  <a:lnTo>
                    <a:pt x="7961542" y="2115455"/>
                  </a:lnTo>
                  <a:lnTo>
                    <a:pt x="7987499" y="2082285"/>
                  </a:lnTo>
                  <a:lnTo>
                    <a:pt x="8004221" y="2043167"/>
                  </a:lnTo>
                  <a:lnTo>
                    <a:pt x="8010144" y="1999678"/>
                  </a:lnTo>
                  <a:lnTo>
                    <a:pt x="8010144" y="201930"/>
                  </a:lnTo>
                  <a:lnTo>
                    <a:pt x="8004221" y="158441"/>
                  </a:lnTo>
                  <a:lnTo>
                    <a:pt x="7987499" y="119323"/>
                  </a:lnTo>
                  <a:lnTo>
                    <a:pt x="7961542" y="86153"/>
                  </a:lnTo>
                  <a:lnTo>
                    <a:pt x="7927918" y="60508"/>
                  </a:lnTo>
                  <a:lnTo>
                    <a:pt x="7888193" y="43964"/>
                  </a:lnTo>
                  <a:lnTo>
                    <a:pt x="7843932" y="38100"/>
                  </a:lnTo>
                  <a:lnTo>
                    <a:pt x="204311" y="38100"/>
                  </a:lnTo>
                  <a:lnTo>
                    <a:pt x="204311" y="19050"/>
                  </a:lnTo>
                  <a:lnTo>
                    <a:pt x="7843932" y="19050"/>
                  </a:lnTo>
                  <a:lnTo>
                    <a:pt x="7843932" y="0"/>
                  </a:lnTo>
                  <a:lnTo>
                    <a:pt x="7890699" y="5322"/>
                  </a:lnTo>
                  <a:lnTo>
                    <a:pt x="7933673" y="20488"/>
                  </a:lnTo>
                  <a:lnTo>
                    <a:pt x="7971612" y="44297"/>
                  </a:lnTo>
                  <a:lnTo>
                    <a:pt x="8003279" y="75546"/>
                  </a:lnTo>
                  <a:lnTo>
                    <a:pt x="8027433" y="113036"/>
                  </a:lnTo>
                  <a:lnTo>
                    <a:pt x="8042834" y="155564"/>
                  </a:lnTo>
                  <a:lnTo>
                    <a:pt x="8048244" y="201930"/>
                  </a:lnTo>
                  <a:lnTo>
                    <a:pt x="8048244" y="1999678"/>
                  </a:lnTo>
                  <a:lnTo>
                    <a:pt x="8042834" y="2046043"/>
                  </a:lnTo>
                  <a:lnTo>
                    <a:pt x="8027433" y="2088572"/>
                  </a:lnTo>
                  <a:lnTo>
                    <a:pt x="8003279" y="2126061"/>
                  </a:lnTo>
                  <a:lnTo>
                    <a:pt x="7971612" y="2157311"/>
                  </a:lnTo>
                  <a:lnTo>
                    <a:pt x="7961737" y="21635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932" y="2182558"/>
                  </a:lnTo>
                  <a:lnTo>
                    <a:pt x="7843932" y="22016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7843932" y="2182558"/>
                  </a:lnTo>
                  <a:lnTo>
                    <a:pt x="7929597" y="2182558"/>
                  </a:lnTo>
                  <a:lnTo>
                    <a:pt x="7890699" y="2196286"/>
                  </a:lnTo>
                  <a:lnTo>
                    <a:pt x="784393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584" y="3564731"/>
              <a:ext cx="152352" cy="216336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9708905" y="3849109"/>
            <a:ext cx="6600825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20">
                <a:solidFill>
                  <a:srgbClr val="494959"/>
                </a:solidFill>
                <a:latin typeface="Cambria"/>
                <a:cs typeface="Cambria"/>
              </a:rPr>
              <a:t>Advantages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55">
                <a:solidFill>
                  <a:srgbClr val="494959"/>
                </a:solidFill>
                <a:latin typeface="Tahoma"/>
                <a:cs typeface="Tahoma"/>
              </a:rPr>
              <a:t>Efficient</a:t>
            </a:r>
            <a:r>
              <a:rPr dirty="0" sz="2150" spc="-6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for</a:t>
            </a:r>
            <a:r>
              <a:rPr dirty="0" sz="2150" spc="-6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high-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dimensional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sparse</a:t>
            </a:r>
            <a:r>
              <a:rPr dirty="0" sz="2150" spc="-6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6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data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94959"/>
                </a:solidFill>
                <a:latin typeface="Tahoma"/>
                <a:cs typeface="Tahoma"/>
              </a:rPr>
              <a:t>with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clear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decision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boundaries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54138" y="5992710"/>
            <a:ext cx="8067675" cy="2202180"/>
            <a:chOff x="954138" y="5992710"/>
            <a:chExt cx="8067675" cy="2202180"/>
          </a:xfrm>
        </p:grpSpPr>
        <p:sp>
          <p:nvSpPr>
            <p:cNvPr id="14" name="object 14" descr=""/>
            <p:cNvSpPr/>
            <p:nvPr/>
          </p:nvSpPr>
          <p:spPr>
            <a:xfrm>
              <a:off x="992238" y="601176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69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692" y="0"/>
                  </a:lnTo>
                  <a:lnTo>
                    <a:pt x="7873935" y="6535"/>
                  </a:lnTo>
                  <a:lnTo>
                    <a:pt x="7918188" y="24976"/>
                  </a:lnTo>
                  <a:lnTo>
                    <a:pt x="7955684" y="53578"/>
                  </a:lnTo>
                  <a:lnTo>
                    <a:pt x="7984655" y="90593"/>
                  </a:lnTo>
                  <a:lnTo>
                    <a:pt x="8003334" y="134276"/>
                  </a:lnTo>
                  <a:lnTo>
                    <a:pt x="8009953" y="182879"/>
                  </a:lnTo>
                  <a:lnTo>
                    <a:pt x="8009953" y="1980628"/>
                  </a:lnTo>
                  <a:lnTo>
                    <a:pt x="8003334" y="2029232"/>
                  </a:lnTo>
                  <a:lnTo>
                    <a:pt x="7984655" y="2072915"/>
                  </a:lnTo>
                  <a:lnTo>
                    <a:pt x="7955684" y="2109930"/>
                  </a:lnTo>
                  <a:lnTo>
                    <a:pt x="7918188" y="2138531"/>
                  </a:lnTo>
                  <a:lnTo>
                    <a:pt x="7873935" y="2156973"/>
                  </a:lnTo>
                  <a:lnTo>
                    <a:pt x="782469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73188" y="599271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19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1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29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742" y="0"/>
                  </a:lnTo>
                  <a:lnTo>
                    <a:pt x="7843742" y="19049"/>
                  </a:lnTo>
                  <a:lnTo>
                    <a:pt x="204311" y="19049"/>
                  </a:lnTo>
                  <a:lnTo>
                    <a:pt x="204311" y="38099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4" y="119323"/>
                  </a:lnTo>
                  <a:lnTo>
                    <a:pt x="44022" y="158441"/>
                  </a:lnTo>
                  <a:lnTo>
                    <a:pt x="38100" y="201929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4" y="2082284"/>
                  </a:lnTo>
                  <a:lnTo>
                    <a:pt x="86701" y="2115454"/>
                  </a:lnTo>
                  <a:lnTo>
                    <a:pt x="120325" y="2141099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547" y="2163508"/>
                  </a:lnTo>
                  <a:lnTo>
                    <a:pt x="7933482" y="2181119"/>
                  </a:lnTo>
                  <a:lnTo>
                    <a:pt x="7929406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547" y="2163508"/>
                  </a:moveTo>
                  <a:lnTo>
                    <a:pt x="7843742" y="2163508"/>
                  </a:lnTo>
                  <a:lnTo>
                    <a:pt x="7888002" y="2157643"/>
                  </a:lnTo>
                  <a:lnTo>
                    <a:pt x="7927728" y="2141099"/>
                  </a:lnTo>
                  <a:lnTo>
                    <a:pt x="7961352" y="2115454"/>
                  </a:lnTo>
                  <a:lnTo>
                    <a:pt x="7987308" y="2082284"/>
                  </a:lnTo>
                  <a:lnTo>
                    <a:pt x="8004031" y="2043167"/>
                  </a:lnTo>
                  <a:lnTo>
                    <a:pt x="8009953" y="1999678"/>
                  </a:lnTo>
                  <a:lnTo>
                    <a:pt x="8009953" y="201929"/>
                  </a:lnTo>
                  <a:lnTo>
                    <a:pt x="8004031" y="158441"/>
                  </a:lnTo>
                  <a:lnTo>
                    <a:pt x="7987308" y="119323"/>
                  </a:lnTo>
                  <a:lnTo>
                    <a:pt x="7961352" y="86153"/>
                  </a:lnTo>
                  <a:lnTo>
                    <a:pt x="7927728" y="60508"/>
                  </a:lnTo>
                  <a:lnTo>
                    <a:pt x="7888002" y="43964"/>
                  </a:lnTo>
                  <a:lnTo>
                    <a:pt x="7843742" y="38099"/>
                  </a:lnTo>
                  <a:lnTo>
                    <a:pt x="204311" y="38099"/>
                  </a:lnTo>
                  <a:lnTo>
                    <a:pt x="204311" y="19049"/>
                  </a:lnTo>
                  <a:lnTo>
                    <a:pt x="7843742" y="19049"/>
                  </a:lnTo>
                  <a:lnTo>
                    <a:pt x="7843742" y="0"/>
                  </a:lnTo>
                  <a:lnTo>
                    <a:pt x="7890509" y="5322"/>
                  </a:lnTo>
                  <a:lnTo>
                    <a:pt x="7933482" y="20488"/>
                  </a:lnTo>
                  <a:lnTo>
                    <a:pt x="7971422" y="44297"/>
                  </a:lnTo>
                  <a:lnTo>
                    <a:pt x="8003089" y="75546"/>
                  </a:lnTo>
                  <a:lnTo>
                    <a:pt x="8027243" y="113036"/>
                  </a:lnTo>
                  <a:lnTo>
                    <a:pt x="8042644" y="155564"/>
                  </a:lnTo>
                  <a:lnTo>
                    <a:pt x="8048053" y="201929"/>
                  </a:lnTo>
                  <a:lnTo>
                    <a:pt x="8048053" y="1999678"/>
                  </a:lnTo>
                  <a:lnTo>
                    <a:pt x="8042644" y="2046043"/>
                  </a:lnTo>
                  <a:lnTo>
                    <a:pt x="8027243" y="2088571"/>
                  </a:lnTo>
                  <a:lnTo>
                    <a:pt x="8003089" y="2126061"/>
                  </a:lnTo>
                  <a:lnTo>
                    <a:pt x="7971422" y="2157311"/>
                  </a:lnTo>
                  <a:lnTo>
                    <a:pt x="7961547" y="21635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742" y="2182558"/>
                  </a:lnTo>
                  <a:lnTo>
                    <a:pt x="7843742" y="22016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7843742" y="2182558"/>
                  </a:lnTo>
                  <a:lnTo>
                    <a:pt x="7929406" y="2182558"/>
                  </a:lnTo>
                  <a:lnTo>
                    <a:pt x="7890509" y="2196286"/>
                  </a:lnTo>
                  <a:lnTo>
                    <a:pt x="784374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138" y="6011760"/>
              <a:ext cx="152352" cy="216336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415459" y="6296138"/>
            <a:ext cx="4603750" cy="982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70">
                <a:solidFill>
                  <a:srgbClr val="494959"/>
                </a:solidFill>
                <a:latin typeface="Cambria"/>
                <a:cs typeface="Cambria"/>
              </a:rPr>
              <a:t>Performance</a:t>
            </a:r>
            <a:endParaRPr sz="2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Achieved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130">
                <a:solidFill>
                  <a:srgbClr val="494959"/>
                </a:solidFill>
                <a:latin typeface="Tahoma"/>
                <a:cs typeface="Tahoma"/>
              </a:rPr>
              <a:t>~61%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accuracy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35">
                <a:solidFill>
                  <a:srgbClr val="494959"/>
                </a:solidFill>
                <a:latin typeface="Tahoma"/>
                <a:cs typeface="Tahoma"/>
              </a:rPr>
              <a:t>on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test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40">
                <a:solidFill>
                  <a:srgbClr val="494959"/>
                </a:solidFill>
                <a:latin typeface="Tahoma"/>
                <a:cs typeface="Tahoma"/>
              </a:rPr>
              <a:t>set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247584" y="5992710"/>
            <a:ext cx="8067675" cy="2202180"/>
            <a:chOff x="9247584" y="5992710"/>
            <a:chExt cx="8067675" cy="2202180"/>
          </a:xfrm>
        </p:grpSpPr>
        <p:sp>
          <p:nvSpPr>
            <p:cNvPr id="19" name="object 19" descr=""/>
            <p:cNvSpPr/>
            <p:nvPr/>
          </p:nvSpPr>
          <p:spPr>
            <a:xfrm>
              <a:off x="9285684" y="601176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88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882" y="0"/>
                  </a:lnTo>
                  <a:lnTo>
                    <a:pt x="7874125" y="6535"/>
                  </a:lnTo>
                  <a:lnTo>
                    <a:pt x="7918379" y="24976"/>
                  </a:lnTo>
                  <a:lnTo>
                    <a:pt x="7955875" y="53578"/>
                  </a:lnTo>
                  <a:lnTo>
                    <a:pt x="7984846" y="90593"/>
                  </a:lnTo>
                  <a:lnTo>
                    <a:pt x="8003524" y="134276"/>
                  </a:lnTo>
                  <a:lnTo>
                    <a:pt x="8010143" y="182879"/>
                  </a:lnTo>
                  <a:lnTo>
                    <a:pt x="8010143" y="1980628"/>
                  </a:lnTo>
                  <a:lnTo>
                    <a:pt x="8003524" y="2029232"/>
                  </a:lnTo>
                  <a:lnTo>
                    <a:pt x="7984846" y="2072915"/>
                  </a:lnTo>
                  <a:lnTo>
                    <a:pt x="7955875" y="2109930"/>
                  </a:lnTo>
                  <a:lnTo>
                    <a:pt x="7918379" y="2138531"/>
                  </a:lnTo>
                  <a:lnTo>
                    <a:pt x="7874125" y="2156973"/>
                  </a:lnTo>
                  <a:lnTo>
                    <a:pt x="782488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266634" y="599271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19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1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29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932" y="0"/>
                  </a:lnTo>
                  <a:lnTo>
                    <a:pt x="7843932" y="19049"/>
                  </a:lnTo>
                  <a:lnTo>
                    <a:pt x="204311" y="19049"/>
                  </a:lnTo>
                  <a:lnTo>
                    <a:pt x="204311" y="38099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5" y="119323"/>
                  </a:lnTo>
                  <a:lnTo>
                    <a:pt x="44022" y="158441"/>
                  </a:lnTo>
                  <a:lnTo>
                    <a:pt x="38100" y="201929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5" y="2082284"/>
                  </a:lnTo>
                  <a:lnTo>
                    <a:pt x="86701" y="2115454"/>
                  </a:lnTo>
                  <a:lnTo>
                    <a:pt x="120325" y="2141099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737" y="2163508"/>
                  </a:lnTo>
                  <a:lnTo>
                    <a:pt x="7933673" y="2181119"/>
                  </a:lnTo>
                  <a:lnTo>
                    <a:pt x="7929597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737" y="2163508"/>
                  </a:moveTo>
                  <a:lnTo>
                    <a:pt x="7843932" y="2163508"/>
                  </a:lnTo>
                  <a:lnTo>
                    <a:pt x="7888193" y="2157643"/>
                  </a:lnTo>
                  <a:lnTo>
                    <a:pt x="7927918" y="2141099"/>
                  </a:lnTo>
                  <a:lnTo>
                    <a:pt x="7961542" y="2115454"/>
                  </a:lnTo>
                  <a:lnTo>
                    <a:pt x="7987499" y="2082284"/>
                  </a:lnTo>
                  <a:lnTo>
                    <a:pt x="8004221" y="2043167"/>
                  </a:lnTo>
                  <a:lnTo>
                    <a:pt x="8010144" y="1999678"/>
                  </a:lnTo>
                  <a:lnTo>
                    <a:pt x="8010144" y="201929"/>
                  </a:lnTo>
                  <a:lnTo>
                    <a:pt x="8004221" y="158441"/>
                  </a:lnTo>
                  <a:lnTo>
                    <a:pt x="7987499" y="119323"/>
                  </a:lnTo>
                  <a:lnTo>
                    <a:pt x="7961542" y="86153"/>
                  </a:lnTo>
                  <a:lnTo>
                    <a:pt x="7927918" y="60508"/>
                  </a:lnTo>
                  <a:lnTo>
                    <a:pt x="7888193" y="43964"/>
                  </a:lnTo>
                  <a:lnTo>
                    <a:pt x="7843932" y="38099"/>
                  </a:lnTo>
                  <a:lnTo>
                    <a:pt x="204311" y="38099"/>
                  </a:lnTo>
                  <a:lnTo>
                    <a:pt x="204311" y="19049"/>
                  </a:lnTo>
                  <a:lnTo>
                    <a:pt x="7843932" y="19049"/>
                  </a:lnTo>
                  <a:lnTo>
                    <a:pt x="7843932" y="0"/>
                  </a:lnTo>
                  <a:lnTo>
                    <a:pt x="7890699" y="5322"/>
                  </a:lnTo>
                  <a:lnTo>
                    <a:pt x="7933673" y="20488"/>
                  </a:lnTo>
                  <a:lnTo>
                    <a:pt x="7971612" y="44297"/>
                  </a:lnTo>
                  <a:lnTo>
                    <a:pt x="8003279" y="75546"/>
                  </a:lnTo>
                  <a:lnTo>
                    <a:pt x="8027433" y="113036"/>
                  </a:lnTo>
                  <a:lnTo>
                    <a:pt x="8042834" y="155564"/>
                  </a:lnTo>
                  <a:lnTo>
                    <a:pt x="8048244" y="201929"/>
                  </a:lnTo>
                  <a:lnTo>
                    <a:pt x="8048244" y="1999678"/>
                  </a:lnTo>
                  <a:lnTo>
                    <a:pt x="8042834" y="2046043"/>
                  </a:lnTo>
                  <a:lnTo>
                    <a:pt x="8027433" y="2088571"/>
                  </a:lnTo>
                  <a:lnTo>
                    <a:pt x="8003279" y="2126061"/>
                  </a:lnTo>
                  <a:lnTo>
                    <a:pt x="7971612" y="2157311"/>
                  </a:lnTo>
                  <a:lnTo>
                    <a:pt x="7961737" y="21635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932" y="2182558"/>
                  </a:lnTo>
                  <a:lnTo>
                    <a:pt x="7843932" y="22016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7843932" y="2182558"/>
                  </a:lnTo>
                  <a:lnTo>
                    <a:pt x="7929597" y="2182558"/>
                  </a:lnTo>
                  <a:lnTo>
                    <a:pt x="7890699" y="2196286"/>
                  </a:lnTo>
                  <a:lnTo>
                    <a:pt x="784393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584" y="6011760"/>
              <a:ext cx="152352" cy="2163365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9708905" y="6296138"/>
            <a:ext cx="7278370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35">
                <a:solidFill>
                  <a:srgbClr val="494959"/>
                </a:solidFill>
                <a:latin typeface="Cambria"/>
                <a:cs typeface="Cambria"/>
              </a:rPr>
              <a:t>Limitations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Cannot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capture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contextual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relationships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between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words </a:t>
            </a:r>
            <a:r>
              <a:rPr dirty="0" sz="2150" spc="35">
                <a:solidFill>
                  <a:srgbClr val="494959"/>
                </a:solidFill>
                <a:latin typeface="Tahoma"/>
                <a:cs typeface="Tahoma"/>
              </a:rPr>
              <a:t>effectively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052253"/>
            <a:ext cx="558863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715"/>
              <a:t>Model</a:t>
            </a:r>
            <a:r>
              <a:rPr dirty="0" spc="370"/>
              <a:t> </a:t>
            </a:r>
            <a:r>
              <a:rPr dirty="0" spc="225"/>
              <a:t>2:</a:t>
            </a:r>
            <a:r>
              <a:rPr dirty="0" spc="370"/>
              <a:t> </a:t>
            </a:r>
            <a:r>
              <a:rPr dirty="0" spc="915"/>
              <a:t>BERT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954138" y="3545680"/>
            <a:ext cx="8067675" cy="2202180"/>
            <a:chOff x="954138" y="3545680"/>
            <a:chExt cx="8067675" cy="2202180"/>
          </a:xfrm>
        </p:grpSpPr>
        <p:sp>
          <p:nvSpPr>
            <p:cNvPr id="4" name="object 4" descr=""/>
            <p:cNvSpPr/>
            <p:nvPr/>
          </p:nvSpPr>
          <p:spPr>
            <a:xfrm>
              <a:off x="992238" y="356473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69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692" y="0"/>
                  </a:lnTo>
                  <a:lnTo>
                    <a:pt x="7873935" y="6535"/>
                  </a:lnTo>
                  <a:lnTo>
                    <a:pt x="7918188" y="24976"/>
                  </a:lnTo>
                  <a:lnTo>
                    <a:pt x="7955684" y="53578"/>
                  </a:lnTo>
                  <a:lnTo>
                    <a:pt x="7984655" y="90593"/>
                  </a:lnTo>
                  <a:lnTo>
                    <a:pt x="8003334" y="134276"/>
                  </a:lnTo>
                  <a:lnTo>
                    <a:pt x="8009953" y="182879"/>
                  </a:lnTo>
                  <a:lnTo>
                    <a:pt x="8009953" y="1980628"/>
                  </a:lnTo>
                  <a:lnTo>
                    <a:pt x="8003334" y="2029232"/>
                  </a:lnTo>
                  <a:lnTo>
                    <a:pt x="7984655" y="2072915"/>
                  </a:lnTo>
                  <a:lnTo>
                    <a:pt x="7955684" y="2109930"/>
                  </a:lnTo>
                  <a:lnTo>
                    <a:pt x="7918188" y="2138531"/>
                  </a:lnTo>
                  <a:lnTo>
                    <a:pt x="7873935" y="2156973"/>
                  </a:lnTo>
                  <a:lnTo>
                    <a:pt x="782469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73188" y="354568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20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2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30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742" y="0"/>
                  </a:lnTo>
                  <a:lnTo>
                    <a:pt x="7843742" y="19050"/>
                  </a:lnTo>
                  <a:lnTo>
                    <a:pt x="204311" y="19050"/>
                  </a:lnTo>
                  <a:lnTo>
                    <a:pt x="204311" y="38100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4" y="119323"/>
                  </a:lnTo>
                  <a:lnTo>
                    <a:pt x="44022" y="158441"/>
                  </a:lnTo>
                  <a:lnTo>
                    <a:pt x="38100" y="201930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4" y="2082285"/>
                  </a:lnTo>
                  <a:lnTo>
                    <a:pt x="86701" y="2115455"/>
                  </a:lnTo>
                  <a:lnTo>
                    <a:pt x="120325" y="2141100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547" y="2163508"/>
                  </a:lnTo>
                  <a:lnTo>
                    <a:pt x="7933482" y="2181120"/>
                  </a:lnTo>
                  <a:lnTo>
                    <a:pt x="7929406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547" y="2163508"/>
                  </a:moveTo>
                  <a:lnTo>
                    <a:pt x="7843742" y="2163508"/>
                  </a:lnTo>
                  <a:lnTo>
                    <a:pt x="7888002" y="2157643"/>
                  </a:lnTo>
                  <a:lnTo>
                    <a:pt x="7927728" y="2141100"/>
                  </a:lnTo>
                  <a:lnTo>
                    <a:pt x="7961352" y="2115455"/>
                  </a:lnTo>
                  <a:lnTo>
                    <a:pt x="7987308" y="2082285"/>
                  </a:lnTo>
                  <a:lnTo>
                    <a:pt x="8004031" y="2043167"/>
                  </a:lnTo>
                  <a:lnTo>
                    <a:pt x="8009953" y="1999678"/>
                  </a:lnTo>
                  <a:lnTo>
                    <a:pt x="8009953" y="201930"/>
                  </a:lnTo>
                  <a:lnTo>
                    <a:pt x="8004031" y="158441"/>
                  </a:lnTo>
                  <a:lnTo>
                    <a:pt x="7987308" y="119323"/>
                  </a:lnTo>
                  <a:lnTo>
                    <a:pt x="7961352" y="86153"/>
                  </a:lnTo>
                  <a:lnTo>
                    <a:pt x="7927728" y="60508"/>
                  </a:lnTo>
                  <a:lnTo>
                    <a:pt x="7888002" y="43964"/>
                  </a:lnTo>
                  <a:lnTo>
                    <a:pt x="7843742" y="38100"/>
                  </a:lnTo>
                  <a:lnTo>
                    <a:pt x="204311" y="38100"/>
                  </a:lnTo>
                  <a:lnTo>
                    <a:pt x="204311" y="19050"/>
                  </a:lnTo>
                  <a:lnTo>
                    <a:pt x="7843742" y="19050"/>
                  </a:lnTo>
                  <a:lnTo>
                    <a:pt x="7843742" y="0"/>
                  </a:lnTo>
                  <a:lnTo>
                    <a:pt x="7890509" y="5322"/>
                  </a:lnTo>
                  <a:lnTo>
                    <a:pt x="7933482" y="20488"/>
                  </a:lnTo>
                  <a:lnTo>
                    <a:pt x="7971422" y="44297"/>
                  </a:lnTo>
                  <a:lnTo>
                    <a:pt x="8003089" y="75546"/>
                  </a:lnTo>
                  <a:lnTo>
                    <a:pt x="8027243" y="113036"/>
                  </a:lnTo>
                  <a:lnTo>
                    <a:pt x="8042644" y="155564"/>
                  </a:lnTo>
                  <a:lnTo>
                    <a:pt x="8048053" y="201930"/>
                  </a:lnTo>
                  <a:lnTo>
                    <a:pt x="8048053" y="1999678"/>
                  </a:lnTo>
                  <a:lnTo>
                    <a:pt x="8042644" y="2046043"/>
                  </a:lnTo>
                  <a:lnTo>
                    <a:pt x="8027243" y="2088572"/>
                  </a:lnTo>
                  <a:lnTo>
                    <a:pt x="8003089" y="2126061"/>
                  </a:lnTo>
                  <a:lnTo>
                    <a:pt x="7971422" y="2157311"/>
                  </a:lnTo>
                  <a:lnTo>
                    <a:pt x="7961547" y="21635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742" y="2182558"/>
                  </a:lnTo>
                  <a:lnTo>
                    <a:pt x="7843742" y="22016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7843742" y="2182558"/>
                  </a:lnTo>
                  <a:lnTo>
                    <a:pt x="7929406" y="2182558"/>
                  </a:lnTo>
                  <a:lnTo>
                    <a:pt x="7890509" y="2196286"/>
                  </a:lnTo>
                  <a:lnTo>
                    <a:pt x="784374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138" y="3564731"/>
              <a:ext cx="152352" cy="2163365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1415459" y="3849109"/>
            <a:ext cx="7148830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15">
                <a:solidFill>
                  <a:srgbClr val="494959"/>
                </a:solidFill>
                <a:latin typeface="Cambria"/>
                <a:cs typeface="Cambria"/>
              </a:rPr>
              <a:t>Architecture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Transformer-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based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deep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learning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25">
                <a:solidFill>
                  <a:srgbClr val="494959"/>
                </a:solidFill>
                <a:latin typeface="Tahoma"/>
                <a:cs typeface="Tahoma"/>
              </a:rPr>
              <a:t>model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with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attention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mechanisms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247584" y="3545680"/>
            <a:ext cx="8067675" cy="2202180"/>
            <a:chOff x="9247584" y="3545680"/>
            <a:chExt cx="8067675" cy="2202180"/>
          </a:xfrm>
        </p:grpSpPr>
        <p:sp>
          <p:nvSpPr>
            <p:cNvPr id="9" name="object 9" descr=""/>
            <p:cNvSpPr/>
            <p:nvPr/>
          </p:nvSpPr>
          <p:spPr>
            <a:xfrm>
              <a:off x="9285684" y="356473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88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882" y="0"/>
                  </a:lnTo>
                  <a:lnTo>
                    <a:pt x="7874125" y="6535"/>
                  </a:lnTo>
                  <a:lnTo>
                    <a:pt x="7918379" y="24976"/>
                  </a:lnTo>
                  <a:lnTo>
                    <a:pt x="7955875" y="53578"/>
                  </a:lnTo>
                  <a:lnTo>
                    <a:pt x="7984846" y="90593"/>
                  </a:lnTo>
                  <a:lnTo>
                    <a:pt x="8003524" y="134276"/>
                  </a:lnTo>
                  <a:lnTo>
                    <a:pt x="8010143" y="182879"/>
                  </a:lnTo>
                  <a:lnTo>
                    <a:pt x="8010143" y="1980628"/>
                  </a:lnTo>
                  <a:lnTo>
                    <a:pt x="8003524" y="2029232"/>
                  </a:lnTo>
                  <a:lnTo>
                    <a:pt x="7984846" y="2072915"/>
                  </a:lnTo>
                  <a:lnTo>
                    <a:pt x="7955875" y="2109930"/>
                  </a:lnTo>
                  <a:lnTo>
                    <a:pt x="7918379" y="2138531"/>
                  </a:lnTo>
                  <a:lnTo>
                    <a:pt x="7874125" y="2156973"/>
                  </a:lnTo>
                  <a:lnTo>
                    <a:pt x="782488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266634" y="354568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20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2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30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932" y="0"/>
                  </a:lnTo>
                  <a:lnTo>
                    <a:pt x="7843932" y="19050"/>
                  </a:lnTo>
                  <a:lnTo>
                    <a:pt x="204311" y="19050"/>
                  </a:lnTo>
                  <a:lnTo>
                    <a:pt x="204311" y="38100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5" y="119323"/>
                  </a:lnTo>
                  <a:lnTo>
                    <a:pt x="44022" y="158441"/>
                  </a:lnTo>
                  <a:lnTo>
                    <a:pt x="38100" y="201930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5" y="2082285"/>
                  </a:lnTo>
                  <a:lnTo>
                    <a:pt x="86701" y="2115455"/>
                  </a:lnTo>
                  <a:lnTo>
                    <a:pt x="120325" y="2141100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737" y="2163508"/>
                  </a:lnTo>
                  <a:lnTo>
                    <a:pt x="7933673" y="2181120"/>
                  </a:lnTo>
                  <a:lnTo>
                    <a:pt x="7929597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737" y="2163508"/>
                  </a:moveTo>
                  <a:lnTo>
                    <a:pt x="7843932" y="2163508"/>
                  </a:lnTo>
                  <a:lnTo>
                    <a:pt x="7888193" y="2157643"/>
                  </a:lnTo>
                  <a:lnTo>
                    <a:pt x="7927918" y="2141100"/>
                  </a:lnTo>
                  <a:lnTo>
                    <a:pt x="7961542" y="2115455"/>
                  </a:lnTo>
                  <a:lnTo>
                    <a:pt x="7987499" y="2082285"/>
                  </a:lnTo>
                  <a:lnTo>
                    <a:pt x="8004221" y="2043167"/>
                  </a:lnTo>
                  <a:lnTo>
                    <a:pt x="8010144" y="1999678"/>
                  </a:lnTo>
                  <a:lnTo>
                    <a:pt x="8010144" y="201930"/>
                  </a:lnTo>
                  <a:lnTo>
                    <a:pt x="8004221" y="158441"/>
                  </a:lnTo>
                  <a:lnTo>
                    <a:pt x="7987499" y="119323"/>
                  </a:lnTo>
                  <a:lnTo>
                    <a:pt x="7961542" y="86153"/>
                  </a:lnTo>
                  <a:lnTo>
                    <a:pt x="7927918" y="60508"/>
                  </a:lnTo>
                  <a:lnTo>
                    <a:pt x="7888193" y="43964"/>
                  </a:lnTo>
                  <a:lnTo>
                    <a:pt x="7843932" y="38100"/>
                  </a:lnTo>
                  <a:lnTo>
                    <a:pt x="204311" y="38100"/>
                  </a:lnTo>
                  <a:lnTo>
                    <a:pt x="204311" y="19050"/>
                  </a:lnTo>
                  <a:lnTo>
                    <a:pt x="7843932" y="19050"/>
                  </a:lnTo>
                  <a:lnTo>
                    <a:pt x="7843932" y="0"/>
                  </a:lnTo>
                  <a:lnTo>
                    <a:pt x="7890699" y="5322"/>
                  </a:lnTo>
                  <a:lnTo>
                    <a:pt x="7933673" y="20488"/>
                  </a:lnTo>
                  <a:lnTo>
                    <a:pt x="7971612" y="44297"/>
                  </a:lnTo>
                  <a:lnTo>
                    <a:pt x="8003279" y="75546"/>
                  </a:lnTo>
                  <a:lnTo>
                    <a:pt x="8027433" y="113036"/>
                  </a:lnTo>
                  <a:lnTo>
                    <a:pt x="8042834" y="155564"/>
                  </a:lnTo>
                  <a:lnTo>
                    <a:pt x="8048244" y="201930"/>
                  </a:lnTo>
                  <a:lnTo>
                    <a:pt x="8048244" y="1999678"/>
                  </a:lnTo>
                  <a:lnTo>
                    <a:pt x="8042834" y="2046043"/>
                  </a:lnTo>
                  <a:lnTo>
                    <a:pt x="8027433" y="2088572"/>
                  </a:lnTo>
                  <a:lnTo>
                    <a:pt x="8003279" y="2126061"/>
                  </a:lnTo>
                  <a:lnTo>
                    <a:pt x="7971612" y="2157311"/>
                  </a:lnTo>
                  <a:lnTo>
                    <a:pt x="7961737" y="21635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932" y="2182558"/>
                  </a:lnTo>
                  <a:lnTo>
                    <a:pt x="7843932" y="22016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7843932" y="2182558"/>
                  </a:lnTo>
                  <a:lnTo>
                    <a:pt x="7929597" y="2182558"/>
                  </a:lnTo>
                  <a:lnTo>
                    <a:pt x="7890699" y="2196286"/>
                  </a:lnTo>
                  <a:lnTo>
                    <a:pt x="784393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584" y="3564731"/>
              <a:ext cx="152352" cy="216336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9708905" y="3849109"/>
            <a:ext cx="6687820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20">
                <a:solidFill>
                  <a:srgbClr val="494959"/>
                </a:solidFill>
                <a:latin typeface="Cambria"/>
                <a:cs typeface="Cambria"/>
              </a:rPr>
              <a:t>Advantages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Context-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aware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understanding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through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bidirectional training</a:t>
            </a:r>
            <a:r>
              <a:rPr dirty="0" sz="2150" spc="-11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semantic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representation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954138" y="5992710"/>
            <a:ext cx="8067675" cy="2202180"/>
            <a:chOff x="954138" y="5992710"/>
            <a:chExt cx="8067675" cy="2202180"/>
          </a:xfrm>
        </p:grpSpPr>
        <p:sp>
          <p:nvSpPr>
            <p:cNvPr id="14" name="object 14" descr=""/>
            <p:cNvSpPr/>
            <p:nvPr/>
          </p:nvSpPr>
          <p:spPr>
            <a:xfrm>
              <a:off x="992238" y="601176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69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692" y="0"/>
                  </a:lnTo>
                  <a:lnTo>
                    <a:pt x="7873935" y="6535"/>
                  </a:lnTo>
                  <a:lnTo>
                    <a:pt x="7918188" y="24976"/>
                  </a:lnTo>
                  <a:lnTo>
                    <a:pt x="7955684" y="53578"/>
                  </a:lnTo>
                  <a:lnTo>
                    <a:pt x="7984655" y="90593"/>
                  </a:lnTo>
                  <a:lnTo>
                    <a:pt x="8003334" y="134276"/>
                  </a:lnTo>
                  <a:lnTo>
                    <a:pt x="8009953" y="182879"/>
                  </a:lnTo>
                  <a:lnTo>
                    <a:pt x="8009953" y="1980628"/>
                  </a:lnTo>
                  <a:lnTo>
                    <a:pt x="8003334" y="2029232"/>
                  </a:lnTo>
                  <a:lnTo>
                    <a:pt x="7984655" y="2072915"/>
                  </a:lnTo>
                  <a:lnTo>
                    <a:pt x="7955684" y="2109930"/>
                  </a:lnTo>
                  <a:lnTo>
                    <a:pt x="7918188" y="2138531"/>
                  </a:lnTo>
                  <a:lnTo>
                    <a:pt x="7873935" y="2156973"/>
                  </a:lnTo>
                  <a:lnTo>
                    <a:pt x="782469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73188" y="599271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19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1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29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742" y="0"/>
                  </a:lnTo>
                  <a:lnTo>
                    <a:pt x="7843742" y="19049"/>
                  </a:lnTo>
                  <a:lnTo>
                    <a:pt x="204311" y="19049"/>
                  </a:lnTo>
                  <a:lnTo>
                    <a:pt x="204311" y="38099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4" y="119323"/>
                  </a:lnTo>
                  <a:lnTo>
                    <a:pt x="44022" y="158441"/>
                  </a:lnTo>
                  <a:lnTo>
                    <a:pt x="38100" y="201929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4" y="2082284"/>
                  </a:lnTo>
                  <a:lnTo>
                    <a:pt x="86701" y="2115454"/>
                  </a:lnTo>
                  <a:lnTo>
                    <a:pt x="120325" y="2141099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547" y="2163508"/>
                  </a:lnTo>
                  <a:lnTo>
                    <a:pt x="7933482" y="2181119"/>
                  </a:lnTo>
                  <a:lnTo>
                    <a:pt x="7929406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547" y="2163508"/>
                  </a:moveTo>
                  <a:lnTo>
                    <a:pt x="7843742" y="2163508"/>
                  </a:lnTo>
                  <a:lnTo>
                    <a:pt x="7888002" y="2157643"/>
                  </a:lnTo>
                  <a:lnTo>
                    <a:pt x="7927728" y="2141099"/>
                  </a:lnTo>
                  <a:lnTo>
                    <a:pt x="7961352" y="2115454"/>
                  </a:lnTo>
                  <a:lnTo>
                    <a:pt x="7987308" y="2082284"/>
                  </a:lnTo>
                  <a:lnTo>
                    <a:pt x="8004031" y="2043167"/>
                  </a:lnTo>
                  <a:lnTo>
                    <a:pt x="8009953" y="1999678"/>
                  </a:lnTo>
                  <a:lnTo>
                    <a:pt x="8009953" y="201929"/>
                  </a:lnTo>
                  <a:lnTo>
                    <a:pt x="8004031" y="158441"/>
                  </a:lnTo>
                  <a:lnTo>
                    <a:pt x="7987308" y="119323"/>
                  </a:lnTo>
                  <a:lnTo>
                    <a:pt x="7961352" y="86153"/>
                  </a:lnTo>
                  <a:lnTo>
                    <a:pt x="7927728" y="60508"/>
                  </a:lnTo>
                  <a:lnTo>
                    <a:pt x="7888002" y="43964"/>
                  </a:lnTo>
                  <a:lnTo>
                    <a:pt x="7843742" y="38099"/>
                  </a:lnTo>
                  <a:lnTo>
                    <a:pt x="204311" y="38099"/>
                  </a:lnTo>
                  <a:lnTo>
                    <a:pt x="204311" y="19049"/>
                  </a:lnTo>
                  <a:lnTo>
                    <a:pt x="7843742" y="19049"/>
                  </a:lnTo>
                  <a:lnTo>
                    <a:pt x="7843742" y="0"/>
                  </a:lnTo>
                  <a:lnTo>
                    <a:pt x="7890509" y="5322"/>
                  </a:lnTo>
                  <a:lnTo>
                    <a:pt x="7933482" y="20488"/>
                  </a:lnTo>
                  <a:lnTo>
                    <a:pt x="7971422" y="44297"/>
                  </a:lnTo>
                  <a:lnTo>
                    <a:pt x="8003089" y="75546"/>
                  </a:lnTo>
                  <a:lnTo>
                    <a:pt x="8027243" y="113036"/>
                  </a:lnTo>
                  <a:lnTo>
                    <a:pt x="8042644" y="155564"/>
                  </a:lnTo>
                  <a:lnTo>
                    <a:pt x="8048053" y="201929"/>
                  </a:lnTo>
                  <a:lnTo>
                    <a:pt x="8048053" y="1999678"/>
                  </a:lnTo>
                  <a:lnTo>
                    <a:pt x="8042644" y="2046043"/>
                  </a:lnTo>
                  <a:lnTo>
                    <a:pt x="8027243" y="2088571"/>
                  </a:lnTo>
                  <a:lnTo>
                    <a:pt x="8003089" y="2126061"/>
                  </a:lnTo>
                  <a:lnTo>
                    <a:pt x="7971422" y="2157311"/>
                  </a:lnTo>
                  <a:lnTo>
                    <a:pt x="7961547" y="21635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742" y="2182558"/>
                  </a:lnTo>
                  <a:lnTo>
                    <a:pt x="7843742" y="2201608"/>
                  </a:lnTo>
                  <a:close/>
                </a:path>
                <a:path w="8048625" h="2202179">
                  <a:moveTo>
                    <a:pt x="7843742" y="2201608"/>
                  </a:moveTo>
                  <a:lnTo>
                    <a:pt x="7843742" y="2182558"/>
                  </a:lnTo>
                  <a:lnTo>
                    <a:pt x="7929406" y="2182558"/>
                  </a:lnTo>
                  <a:lnTo>
                    <a:pt x="7890509" y="2196286"/>
                  </a:lnTo>
                  <a:lnTo>
                    <a:pt x="784374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138" y="6011760"/>
              <a:ext cx="152352" cy="216336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415459" y="6296138"/>
            <a:ext cx="6485890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85">
                <a:solidFill>
                  <a:srgbClr val="494959"/>
                </a:solidFill>
                <a:latin typeface="Cambria"/>
                <a:cs typeface="Cambria"/>
              </a:rPr>
              <a:t>Fine-</a:t>
            </a:r>
            <a:r>
              <a:rPr dirty="0" sz="2750" spc="245">
                <a:solidFill>
                  <a:srgbClr val="494959"/>
                </a:solidFill>
                <a:latin typeface="Cambria"/>
                <a:cs typeface="Cambria"/>
              </a:rPr>
              <a:t>tuning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Adapted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pre-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trained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BERT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25">
                <a:solidFill>
                  <a:srgbClr val="494959"/>
                </a:solidFill>
                <a:latin typeface="Tahoma"/>
                <a:cs typeface="Tahoma"/>
              </a:rPr>
              <a:t>model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to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mental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health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classification</a:t>
            </a:r>
            <a:r>
              <a:rPr dirty="0" sz="21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45">
                <a:solidFill>
                  <a:srgbClr val="494959"/>
                </a:solidFill>
                <a:latin typeface="Tahoma"/>
                <a:cs typeface="Tahoma"/>
              </a:rPr>
              <a:t>task</a:t>
            </a:r>
            <a:endParaRPr sz="2150">
              <a:latin typeface="Tahoma"/>
              <a:cs typeface="Tahom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9247584" y="5992710"/>
            <a:ext cx="8067675" cy="2202180"/>
            <a:chOff x="9247584" y="5992710"/>
            <a:chExt cx="8067675" cy="2202180"/>
          </a:xfrm>
        </p:grpSpPr>
        <p:sp>
          <p:nvSpPr>
            <p:cNvPr id="19" name="object 19" descr=""/>
            <p:cNvSpPr/>
            <p:nvPr/>
          </p:nvSpPr>
          <p:spPr>
            <a:xfrm>
              <a:off x="9285684" y="6011760"/>
              <a:ext cx="8010525" cy="2164080"/>
            </a:xfrm>
            <a:custGeom>
              <a:avLst/>
              <a:gdLst/>
              <a:ahLst/>
              <a:cxnLst/>
              <a:rect l="l" t="t" r="r" b="b"/>
              <a:pathLst>
                <a:path w="8010525" h="2164079">
                  <a:moveTo>
                    <a:pt x="7824882" y="2163508"/>
                  </a:moveTo>
                  <a:lnTo>
                    <a:pt x="185261" y="2163508"/>
                  </a:lnTo>
                  <a:lnTo>
                    <a:pt x="136017" y="2156973"/>
                  </a:lnTo>
                  <a:lnTo>
                    <a:pt x="91764" y="2138531"/>
                  </a:lnTo>
                  <a:lnTo>
                    <a:pt x="54268" y="2109930"/>
                  </a:lnTo>
                  <a:lnTo>
                    <a:pt x="25297" y="2072915"/>
                  </a:lnTo>
                  <a:lnTo>
                    <a:pt x="6618" y="2029232"/>
                  </a:lnTo>
                  <a:lnTo>
                    <a:pt x="0" y="1980628"/>
                  </a:lnTo>
                  <a:lnTo>
                    <a:pt x="0" y="182879"/>
                  </a:lnTo>
                  <a:lnTo>
                    <a:pt x="6618" y="134276"/>
                  </a:lnTo>
                  <a:lnTo>
                    <a:pt x="25297" y="90593"/>
                  </a:lnTo>
                  <a:lnTo>
                    <a:pt x="54268" y="53578"/>
                  </a:lnTo>
                  <a:lnTo>
                    <a:pt x="91764" y="24976"/>
                  </a:lnTo>
                  <a:lnTo>
                    <a:pt x="136017" y="6535"/>
                  </a:lnTo>
                  <a:lnTo>
                    <a:pt x="185261" y="0"/>
                  </a:lnTo>
                  <a:lnTo>
                    <a:pt x="7824882" y="0"/>
                  </a:lnTo>
                  <a:lnTo>
                    <a:pt x="7874125" y="6535"/>
                  </a:lnTo>
                  <a:lnTo>
                    <a:pt x="7918379" y="24976"/>
                  </a:lnTo>
                  <a:lnTo>
                    <a:pt x="7955875" y="53578"/>
                  </a:lnTo>
                  <a:lnTo>
                    <a:pt x="7984846" y="90593"/>
                  </a:lnTo>
                  <a:lnTo>
                    <a:pt x="8003524" y="134276"/>
                  </a:lnTo>
                  <a:lnTo>
                    <a:pt x="8010143" y="182879"/>
                  </a:lnTo>
                  <a:lnTo>
                    <a:pt x="8010143" y="1980628"/>
                  </a:lnTo>
                  <a:lnTo>
                    <a:pt x="8003524" y="2029232"/>
                  </a:lnTo>
                  <a:lnTo>
                    <a:pt x="7984846" y="2072915"/>
                  </a:lnTo>
                  <a:lnTo>
                    <a:pt x="7955875" y="2109930"/>
                  </a:lnTo>
                  <a:lnTo>
                    <a:pt x="7918379" y="2138531"/>
                  </a:lnTo>
                  <a:lnTo>
                    <a:pt x="7874125" y="2156973"/>
                  </a:lnTo>
                  <a:lnTo>
                    <a:pt x="7824882" y="2163508"/>
                  </a:lnTo>
                  <a:close/>
                </a:path>
              </a:pathLst>
            </a:custGeom>
            <a:solidFill>
              <a:srgbClr val="FAFA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9266634" y="5992710"/>
              <a:ext cx="8048625" cy="2202180"/>
            </a:xfrm>
            <a:custGeom>
              <a:avLst/>
              <a:gdLst/>
              <a:ahLst/>
              <a:cxnLst/>
              <a:rect l="l" t="t" r="r" b="b"/>
              <a:pathLst>
                <a:path w="8048625" h="2202179">
                  <a:moveTo>
                    <a:pt x="204311" y="2201608"/>
                  </a:moveTo>
                  <a:lnTo>
                    <a:pt x="157544" y="2196286"/>
                  </a:lnTo>
                  <a:lnTo>
                    <a:pt x="114570" y="2181119"/>
                  </a:lnTo>
                  <a:lnTo>
                    <a:pt x="76631" y="2157311"/>
                  </a:lnTo>
                  <a:lnTo>
                    <a:pt x="44964" y="2126061"/>
                  </a:lnTo>
                  <a:lnTo>
                    <a:pt x="20810" y="2088571"/>
                  </a:lnTo>
                  <a:lnTo>
                    <a:pt x="5409" y="2046043"/>
                  </a:lnTo>
                  <a:lnTo>
                    <a:pt x="0" y="1999678"/>
                  </a:lnTo>
                  <a:lnTo>
                    <a:pt x="0" y="201929"/>
                  </a:lnTo>
                  <a:lnTo>
                    <a:pt x="5409" y="155564"/>
                  </a:lnTo>
                  <a:lnTo>
                    <a:pt x="20810" y="113036"/>
                  </a:lnTo>
                  <a:lnTo>
                    <a:pt x="44964" y="75546"/>
                  </a:lnTo>
                  <a:lnTo>
                    <a:pt x="76631" y="44297"/>
                  </a:lnTo>
                  <a:lnTo>
                    <a:pt x="114570" y="20488"/>
                  </a:lnTo>
                  <a:lnTo>
                    <a:pt x="157544" y="5322"/>
                  </a:lnTo>
                  <a:lnTo>
                    <a:pt x="204311" y="0"/>
                  </a:lnTo>
                  <a:lnTo>
                    <a:pt x="7843932" y="0"/>
                  </a:lnTo>
                  <a:lnTo>
                    <a:pt x="7843932" y="19049"/>
                  </a:lnTo>
                  <a:lnTo>
                    <a:pt x="204311" y="19049"/>
                  </a:lnTo>
                  <a:lnTo>
                    <a:pt x="204311" y="38099"/>
                  </a:lnTo>
                  <a:lnTo>
                    <a:pt x="160050" y="43964"/>
                  </a:lnTo>
                  <a:lnTo>
                    <a:pt x="120325" y="60508"/>
                  </a:lnTo>
                  <a:lnTo>
                    <a:pt x="86701" y="86153"/>
                  </a:lnTo>
                  <a:lnTo>
                    <a:pt x="60745" y="119323"/>
                  </a:lnTo>
                  <a:lnTo>
                    <a:pt x="44022" y="158441"/>
                  </a:lnTo>
                  <a:lnTo>
                    <a:pt x="38100" y="201929"/>
                  </a:lnTo>
                  <a:lnTo>
                    <a:pt x="38100" y="1999678"/>
                  </a:lnTo>
                  <a:lnTo>
                    <a:pt x="44022" y="2043167"/>
                  </a:lnTo>
                  <a:lnTo>
                    <a:pt x="60745" y="2082284"/>
                  </a:lnTo>
                  <a:lnTo>
                    <a:pt x="86701" y="2115454"/>
                  </a:lnTo>
                  <a:lnTo>
                    <a:pt x="120325" y="2141099"/>
                  </a:lnTo>
                  <a:lnTo>
                    <a:pt x="160050" y="2157643"/>
                  </a:lnTo>
                  <a:lnTo>
                    <a:pt x="204311" y="2163508"/>
                  </a:lnTo>
                  <a:lnTo>
                    <a:pt x="7961737" y="2163508"/>
                  </a:lnTo>
                  <a:lnTo>
                    <a:pt x="7933673" y="2181119"/>
                  </a:lnTo>
                  <a:lnTo>
                    <a:pt x="7929597" y="2182558"/>
                  </a:lnTo>
                  <a:lnTo>
                    <a:pt x="204311" y="2182558"/>
                  </a:lnTo>
                  <a:lnTo>
                    <a:pt x="204311" y="2201608"/>
                  </a:lnTo>
                  <a:close/>
                </a:path>
                <a:path w="8048625" h="2202179">
                  <a:moveTo>
                    <a:pt x="7961737" y="2163508"/>
                  </a:moveTo>
                  <a:lnTo>
                    <a:pt x="7843932" y="2163508"/>
                  </a:lnTo>
                  <a:lnTo>
                    <a:pt x="7888193" y="2157643"/>
                  </a:lnTo>
                  <a:lnTo>
                    <a:pt x="7927918" y="2141099"/>
                  </a:lnTo>
                  <a:lnTo>
                    <a:pt x="7961542" y="2115454"/>
                  </a:lnTo>
                  <a:lnTo>
                    <a:pt x="7987499" y="2082284"/>
                  </a:lnTo>
                  <a:lnTo>
                    <a:pt x="8004221" y="2043167"/>
                  </a:lnTo>
                  <a:lnTo>
                    <a:pt x="8010144" y="1999678"/>
                  </a:lnTo>
                  <a:lnTo>
                    <a:pt x="8010144" y="201929"/>
                  </a:lnTo>
                  <a:lnTo>
                    <a:pt x="8004221" y="158441"/>
                  </a:lnTo>
                  <a:lnTo>
                    <a:pt x="7987499" y="119323"/>
                  </a:lnTo>
                  <a:lnTo>
                    <a:pt x="7961542" y="86153"/>
                  </a:lnTo>
                  <a:lnTo>
                    <a:pt x="7927918" y="60508"/>
                  </a:lnTo>
                  <a:lnTo>
                    <a:pt x="7888193" y="43964"/>
                  </a:lnTo>
                  <a:lnTo>
                    <a:pt x="7843932" y="38099"/>
                  </a:lnTo>
                  <a:lnTo>
                    <a:pt x="204311" y="38099"/>
                  </a:lnTo>
                  <a:lnTo>
                    <a:pt x="204311" y="19049"/>
                  </a:lnTo>
                  <a:lnTo>
                    <a:pt x="7843932" y="19049"/>
                  </a:lnTo>
                  <a:lnTo>
                    <a:pt x="7843932" y="0"/>
                  </a:lnTo>
                  <a:lnTo>
                    <a:pt x="7890699" y="5322"/>
                  </a:lnTo>
                  <a:lnTo>
                    <a:pt x="7933673" y="20488"/>
                  </a:lnTo>
                  <a:lnTo>
                    <a:pt x="7971612" y="44297"/>
                  </a:lnTo>
                  <a:lnTo>
                    <a:pt x="8003279" y="75546"/>
                  </a:lnTo>
                  <a:lnTo>
                    <a:pt x="8027433" y="113036"/>
                  </a:lnTo>
                  <a:lnTo>
                    <a:pt x="8042834" y="155564"/>
                  </a:lnTo>
                  <a:lnTo>
                    <a:pt x="8048244" y="201929"/>
                  </a:lnTo>
                  <a:lnTo>
                    <a:pt x="8048244" y="1999678"/>
                  </a:lnTo>
                  <a:lnTo>
                    <a:pt x="8042834" y="2046043"/>
                  </a:lnTo>
                  <a:lnTo>
                    <a:pt x="8027433" y="2088571"/>
                  </a:lnTo>
                  <a:lnTo>
                    <a:pt x="8003279" y="2126061"/>
                  </a:lnTo>
                  <a:lnTo>
                    <a:pt x="7971612" y="2157311"/>
                  </a:lnTo>
                  <a:lnTo>
                    <a:pt x="7961737" y="21635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204311" y="2201608"/>
                  </a:lnTo>
                  <a:lnTo>
                    <a:pt x="204311" y="2182558"/>
                  </a:lnTo>
                  <a:lnTo>
                    <a:pt x="7843932" y="2182558"/>
                  </a:lnTo>
                  <a:lnTo>
                    <a:pt x="7843932" y="2201608"/>
                  </a:lnTo>
                  <a:close/>
                </a:path>
                <a:path w="8048625" h="2202179">
                  <a:moveTo>
                    <a:pt x="7843932" y="2201608"/>
                  </a:moveTo>
                  <a:lnTo>
                    <a:pt x="7843932" y="2182558"/>
                  </a:lnTo>
                  <a:lnTo>
                    <a:pt x="7929597" y="2182558"/>
                  </a:lnTo>
                  <a:lnTo>
                    <a:pt x="7890699" y="2196286"/>
                  </a:lnTo>
                  <a:lnTo>
                    <a:pt x="7843932" y="2201608"/>
                  </a:lnTo>
                  <a:close/>
                </a:path>
              </a:pathLst>
            </a:custGeom>
            <a:solidFill>
              <a:srgbClr val="D0CD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584" y="6011760"/>
              <a:ext cx="152352" cy="2163365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9708905" y="6296138"/>
            <a:ext cx="6813550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70">
                <a:solidFill>
                  <a:srgbClr val="494959"/>
                </a:solidFill>
                <a:latin typeface="Cambria"/>
                <a:cs typeface="Cambria"/>
              </a:rPr>
              <a:t>Performance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Achieved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130">
                <a:solidFill>
                  <a:srgbClr val="494959"/>
                </a:solidFill>
                <a:latin typeface="Tahoma"/>
                <a:cs typeface="Tahoma"/>
              </a:rPr>
              <a:t>~75%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494959"/>
                </a:solidFill>
                <a:latin typeface="Tahoma"/>
                <a:cs typeface="Tahoma"/>
              </a:rPr>
              <a:t>accuracy,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significantly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outperforming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SVM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baseline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270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715"/>
              <a:t>Model</a:t>
            </a:r>
            <a:r>
              <a:rPr dirty="0" spc="380"/>
              <a:t> </a:t>
            </a:r>
            <a:r>
              <a:rPr dirty="0" spc="650"/>
              <a:t>Comparison</a:t>
            </a:r>
            <a:r>
              <a:rPr dirty="0" spc="385"/>
              <a:t> </a:t>
            </a:r>
            <a:r>
              <a:rPr dirty="0" spc="1065"/>
              <a:t>&amp;</a:t>
            </a:r>
            <a:r>
              <a:rPr dirty="0" spc="380"/>
              <a:t> </a:t>
            </a:r>
            <a:r>
              <a:rPr dirty="0" spc="500"/>
              <a:t>Error</a:t>
            </a:r>
            <a:r>
              <a:rPr dirty="0" spc="385"/>
              <a:t> </a:t>
            </a:r>
            <a:r>
              <a:rPr dirty="0" spc="420"/>
              <a:t>Analysis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" y="5369566"/>
            <a:ext cx="95249" cy="95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" y="5817241"/>
            <a:ext cx="95249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" y="6264916"/>
            <a:ext cx="95249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79538" y="4484455"/>
            <a:ext cx="7725409" cy="199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80">
                <a:solidFill>
                  <a:srgbClr val="403CCF"/>
                </a:solidFill>
                <a:latin typeface="Cambria"/>
                <a:cs typeface="Cambria"/>
              </a:rPr>
              <a:t>Performance</a:t>
            </a:r>
            <a:r>
              <a:rPr dirty="0" sz="2750" spc="195">
                <a:solidFill>
                  <a:srgbClr val="403CCF"/>
                </a:solidFill>
                <a:latin typeface="Cambria"/>
                <a:cs typeface="Cambria"/>
              </a:rPr>
              <a:t> </a:t>
            </a:r>
            <a:r>
              <a:rPr dirty="0" sz="2750" spc="305">
                <a:solidFill>
                  <a:srgbClr val="403CCF"/>
                </a:solidFill>
                <a:latin typeface="Cambria"/>
                <a:cs typeface="Cambria"/>
              </a:rPr>
              <a:t>Comparison</a:t>
            </a:r>
            <a:endParaRPr sz="2750">
              <a:latin typeface="Cambria"/>
              <a:cs typeface="Cambria"/>
            </a:endParaRPr>
          </a:p>
          <a:p>
            <a:pPr marL="342265" marR="5080">
              <a:lnSpc>
                <a:spcPct val="136600"/>
              </a:lnSpc>
              <a:spcBef>
                <a:spcPts val="1600"/>
              </a:spcBef>
            </a:pP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BERT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94959"/>
                </a:solidFill>
                <a:latin typeface="Tahoma"/>
                <a:cs typeface="Tahoma"/>
              </a:rPr>
              <a:t>outperformed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SVM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0">
                <a:solidFill>
                  <a:srgbClr val="494959"/>
                </a:solidFill>
                <a:latin typeface="Tahoma"/>
                <a:cs typeface="Tahoma"/>
              </a:rPr>
              <a:t>by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14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percentage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points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Context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handling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enables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better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semantic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understanding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Transformer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architecture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captures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word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relationships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5596" y="5369566"/>
            <a:ext cx="95249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5596" y="5817241"/>
            <a:ext cx="95249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5596" y="6264916"/>
            <a:ext cx="95249" cy="95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486696" y="4484455"/>
            <a:ext cx="7112634" cy="199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40">
                <a:solidFill>
                  <a:srgbClr val="403CCF"/>
                </a:solidFill>
                <a:latin typeface="Cambria"/>
                <a:cs typeface="Cambria"/>
              </a:rPr>
              <a:t>Error</a:t>
            </a:r>
            <a:r>
              <a:rPr dirty="0" sz="2750" spc="200">
                <a:solidFill>
                  <a:srgbClr val="403CCF"/>
                </a:solidFill>
                <a:latin typeface="Cambria"/>
                <a:cs typeface="Cambria"/>
              </a:rPr>
              <a:t> </a:t>
            </a:r>
            <a:r>
              <a:rPr dirty="0" sz="2750" spc="204">
                <a:solidFill>
                  <a:srgbClr val="403CCF"/>
                </a:solidFill>
                <a:latin typeface="Cambria"/>
                <a:cs typeface="Cambria"/>
              </a:rPr>
              <a:t>Analysis </a:t>
            </a:r>
            <a:r>
              <a:rPr dirty="0" sz="2750" spc="190">
                <a:solidFill>
                  <a:srgbClr val="403CCF"/>
                </a:solidFill>
                <a:latin typeface="Cambria"/>
                <a:cs typeface="Cambria"/>
              </a:rPr>
              <a:t>Insights</a:t>
            </a:r>
            <a:endParaRPr sz="2750">
              <a:latin typeface="Cambria"/>
              <a:cs typeface="Cambria"/>
            </a:endParaRPr>
          </a:p>
          <a:p>
            <a:pPr marL="342265" marR="5080">
              <a:lnSpc>
                <a:spcPct val="136600"/>
              </a:lnSpc>
              <a:spcBef>
                <a:spcPts val="1600"/>
              </a:spcBef>
            </a:pP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Overlapping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emotional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expressions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between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classes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Short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ambiguous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9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samples</a:t>
            </a:r>
            <a:endParaRPr sz="2150">
              <a:latin typeface="Tahoma"/>
              <a:cs typeface="Tahoma"/>
            </a:endParaRPr>
          </a:p>
          <a:p>
            <a:pPr marL="342265">
              <a:lnSpc>
                <a:spcPct val="100000"/>
              </a:lnSpc>
              <a:spcBef>
                <a:spcPts val="944"/>
              </a:spcBef>
            </a:pP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Context-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dependent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language</a:t>
            </a:r>
            <a:r>
              <a:rPr dirty="0" sz="21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patterns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863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620"/>
              <a:t>Deployment:</a:t>
            </a:r>
            <a:r>
              <a:rPr dirty="0" spc="385"/>
              <a:t> </a:t>
            </a:r>
            <a:r>
              <a:rPr dirty="0" spc="800"/>
              <a:t>Web</a:t>
            </a:r>
            <a:r>
              <a:rPr dirty="0" spc="390"/>
              <a:t> </a:t>
            </a:r>
            <a:r>
              <a:rPr dirty="0" spc="500"/>
              <a:t>Application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538" y="4410290"/>
            <a:ext cx="34798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45">
                <a:solidFill>
                  <a:srgbClr val="494959"/>
                </a:solidFill>
                <a:latin typeface="Cambria"/>
                <a:cs typeface="Cambria"/>
              </a:rPr>
              <a:t>01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79538" y="5070385"/>
            <a:ext cx="3681095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65">
                <a:solidFill>
                  <a:srgbClr val="494959"/>
                </a:solidFill>
                <a:latin typeface="Cambria"/>
                <a:cs typeface="Cambria"/>
              </a:rPr>
              <a:t>Framework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Built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with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Streamlit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for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rapid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deployment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508505" y="4410290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94959"/>
                </a:solidFill>
                <a:latin typeface="Cambria"/>
                <a:cs typeface="Cambria"/>
              </a:rPr>
              <a:t>02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508505" y="5070385"/>
            <a:ext cx="4880610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80">
                <a:solidFill>
                  <a:srgbClr val="494959"/>
                </a:solidFill>
                <a:latin typeface="Cambria"/>
                <a:cs typeface="Cambria"/>
              </a:rPr>
              <a:t>Workflow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User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input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000" spc="1235">
                <a:solidFill>
                  <a:srgbClr val="494959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254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preprocessing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000" spc="1235">
                <a:solidFill>
                  <a:srgbClr val="494959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254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model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prediction</a:t>
            </a:r>
            <a:r>
              <a:rPr dirty="0" sz="2150" spc="-1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1000" spc="1235">
                <a:solidFill>
                  <a:srgbClr val="494959"/>
                </a:solidFill>
                <a:latin typeface="Lucida Sans Unicode"/>
                <a:cs typeface="Lucida Sans Unicode"/>
              </a:rPr>
              <a:t>→</a:t>
            </a:r>
            <a:r>
              <a:rPr dirty="0" sz="1000" spc="325">
                <a:solidFill>
                  <a:srgbClr val="494959"/>
                </a:solidFill>
                <a:latin typeface="Lucida Sans Unicode"/>
                <a:cs typeface="Lucida Sans Unicode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real-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time</a:t>
            </a:r>
            <a:r>
              <a:rPr dirty="0" sz="2150" spc="-1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classification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037462" y="4410290"/>
            <a:ext cx="39497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229">
                <a:solidFill>
                  <a:srgbClr val="494959"/>
                </a:solidFill>
                <a:latin typeface="Cambria"/>
                <a:cs typeface="Cambria"/>
              </a:rPr>
              <a:t>03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037462" y="5070385"/>
            <a:ext cx="5250815" cy="1430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29">
                <a:solidFill>
                  <a:srgbClr val="494959"/>
                </a:solidFill>
                <a:latin typeface="Cambria"/>
                <a:cs typeface="Cambria"/>
              </a:rPr>
              <a:t>Functionality</a:t>
            </a:r>
            <a:endParaRPr sz="2750">
              <a:latin typeface="Cambria"/>
              <a:cs typeface="Cambria"/>
            </a:endParaRPr>
          </a:p>
          <a:p>
            <a:pPr marL="12700" marR="5080">
              <a:lnSpc>
                <a:spcPct val="136600"/>
              </a:lnSpc>
              <a:spcBef>
                <a:spcPts val="705"/>
              </a:spcBef>
            </a:pP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Accepts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text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input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returns</a:t>
            </a:r>
            <a:r>
              <a:rPr dirty="0" sz="2150" spc="-10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predicted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mental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health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category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with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confidence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951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595"/>
              <a:t>Conclusion</a:t>
            </a:r>
            <a:r>
              <a:rPr dirty="0" spc="375"/>
              <a:t> </a:t>
            </a:r>
            <a:r>
              <a:rPr dirty="0" spc="1065"/>
              <a:t>&amp;</a:t>
            </a:r>
            <a:r>
              <a:rPr dirty="0" spc="380"/>
              <a:t> </a:t>
            </a:r>
            <a:r>
              <a:rPr dirty="0" spc="505"/>
              <a:t>Future</a:t>
            </a:r>
            <a:r>
              <a:rPr dirty="0" spc="380"/>
              <a:t> </a:t>
            </a:r>
            <a:r>
              <a:rPr dirty="0" spc="700"/>
              <a:t>Work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" y="5596385"/>
            <a:ext cx="95249" cy="95249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" y="6044060"/>
            <a:ext cx="95249" cy="952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438" y="6491735"/>
            <a:ext cx="95249" cy="9524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979538" y="4711264"/>
            <a:ext cx="6978015" cy="199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370">
                <a:solidFill>
                  <a:srgbClr val="403CCF"/>
                </a:solidFill>
                <a:latin typeface="Cambria"/>
                <a:cs typeface="Cambria"/>
              </a:rPr>
              <a:t>Summary</a:t>
            </a:r>
            <a:endParaRPr sz="2750">
              <a:latin typeface="Cambria"/>
              <a:cs typeface="Cambria"/>
            </a:endParaRPr>
          </a:p>
          <a:p>
            <a:pPr algn="just" marL="342265" marR="5080">
              <a:lnSpc>
                <a:spcPct val="136600"/>
              </a:lnSpc>
              <a:spcBef>
                <a:spcPts val="1600"/>
              </a:spcBef>
            </a:pPr>
            <a:r>
              <a:rPr dirty="0" sz="2150" spc="60">
                <a:solidFill>
                  <a:srgbClr val="494959"/>
                </a:solidFill>
                <a:latin typeface="Tahoma"/>
                <a:cs typeface="Tahoma"/>
              </a:rPr>
              <a:t>Successfully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0">
                <a:solidFill>
                  <a:srgbClr val="494959"/>
                </a:solidFill>
                <a:latin typeface="Tahoma"/>
                <a:cs typeface="Tahoma"/>
              </a:rPr>
              <a:t>implemented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SVM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BERT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55">
                <a:solidFill>
                  <a:srgbClr val="494959"/>
                </a:solidFill>
                <a:latin typeface="Tahoma"/>
                <a:cs typeface="Tahoma"/>
              </a:rPr>
              <a:t>classifiers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BERT</a:t>
            </a:r>
            <a:r>
              <a:rPr dirty="0" sz="2150" spc="-6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achieved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superior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performance</a:t>
            </a:r>
            <a:r>
              <a:rPr dirty="0" sz="2150" spc="-6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105">
                <a:solidFill>
                  <a:srgbClr val="494959"/>
                </a:solidFill>
                <a:latin typeface="Tahoma"/>
                <a:cs typeface="Tahoma"/>
              </a:rPr>
              <a:t>(75%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>
                <a:solidFill>
                  <a:srgbClr val="494959"/>
                </a:solidFill>
                <a:latin typeface="Tahoma"/>
                <a:cs typeface="Tahoma"/>
              </a:rPr>
              <a:t>vs</a:t>
            </a:r>
            <a:r>
              <a:rPr dirty="0" sz="2150" spc="-5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-20">
                <a:solidFill>
                  <a:srgbClr val="494959"/>
                </a:solidFill>
                <a:latin typeface="Tahoma"/>
                <a:cs typeface="Tahoma"/>
              </a:rPr>
              <a:t>61%)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Deployed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functional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95">
                <a:solidFill>
                  <a:srgbClr val="494959"/>
                </a:solidFill>
                <a:latin typeface="Tahoma"/>
                <a:cs typeface="Tahoma"/>
              </a:rPr>
              <a:t>web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application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5596" y="5596385"/>
            <a:ext cx="95249" cy="9524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5596" y="6044060"/>
            <a:ext cx="95249" cy="9524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75596" y="6491735"/>
            <a:ext cx="95249" cy="9524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9486696" y="4711264"/>
            <a:ext cx="6459220" cy="1991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245">
                <a:solidFill>
                  <a:srgbClr val="403CCF"/>
                </a:solidFill>
                <a:latin typeface="Cambria"/>
                <a:cs typeface="Cambria"/>
              </a:rPr>
              <a:t>Future</a:t>
            </a:r>
            <a:r>
              <a:rPr dirty="0" sz="2750" spc="180">
                <a:solidFill>
                  <a:srgbClr val="403CCF"/>
                </a:solidFill>
                <a:latin typeface="Cambria"/>
                <a:cs typeface="Cambria"/>
              </a:rPr>
              <a:t> </a:t>
            </a:r>
            <a:r>
              <a:rPr dirty="0" sz="2750" spc="285">
                <a:solidFill>
                  <a:srgbClr val="403CCF"/>
                </a:solidFill>
                <a:latin typeface="Cambria"/>
                <a:cs typeface="Cambria"/>
              </a:rPr>
              <a:t>Improvements</a:t>
            </a:r>
            <a:endParaRPr sz="2750">
              <a:latin typeface="Cambria"/>
              <a:cs typeface="Cambria"/>
            </a:endParaRPr>
          </a:p>
          <a:p>
            <a:pPr marL="342265" marR="1423670">
              <a:lnSpc>
                <a:spcPct val="136600"/>
              </a:lnSpc>
              <a:spcBef>
                <a:spcPts val="1600"/>
              </a:spcBef>
            </a:pP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Expand</a:t>
            </a:r>
            <a:r>
              <a:rPr dirty="0" sz="2150" spc="-9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dataset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65">
                <a:solidFill>
                  <a:srgbClr val="494959"/>
                </a:solidFill>
                <a:latin typeface="Tahoma"/>
                <a:cs typeface="Tahoma"/>
              </a:rPr>
              <a:t>size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14">
                <a:solidFill>
                  <a:srgbClr val="494959"/>
                </a:solidFill>
                <a:latin typeface="Tahoma"/>
                <a:cs typeface="Tahoma"/>
              </a:rPr>
              <a:t>and</a:t>
            </a:r>
            <a:r>
              <a:rPr dirty="0" sz="2150" spc="-8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50">
                <a:solidFill>
                  <a:srgbClr val="494959"/>
                </a:solidFill>
                <a:latin typeface="Tahoma"/>
                <a:cs typeface="Tahoma"/>
              </a:rPr>
              <a:t>diversity </a:t>
            </a: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Enhanced</a:t>
            </a:r>
            <a:r>
              <a:rPr dirty="0" sz="2150" spc="-6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preprocessing</a:t>
            </a:r>
            <a:r>
              <a:rPr dirty="0" sz="2150" spc="-7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0">
                <a:solidFill>
                  <a:srgbClr val="494959"/>
                </a:solidFill>
                <a:latin typeface="Tahoma"/>
                <a:cs typeface="Tahoma"/>
              </a:rPr>
              <a:t>techniques</a:t>
            </a:r>
            <a:endParaRPr sz="2150">
              <a:latin typeface="Tahoma"/>
              <a:cs typeface="Tahoma"/>
            </a:endParaRPr>
          </a:p>
          <a:p>
            <a:pPr marL="342265">
              <a:lnSpc>
                <a:spcPct val="100000"/>
              </a:lnSpc>
              <a:spcBef>
                <a:spcPts val="944"/>
              </a:spcBef>
            </a:pPr>
            <a:r>
              <a:rPr dirty="0" sz="2150" spc="90">
                <a:solidFill>
                  <a:srgbClr val="494959"/>
                </a:solidFill>
                <a:latin typeface="Tahoma"/>
                <a:cs typeface="Tahoma"/>
              </a:rPr>
              <a:t>Experiment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75">
                <a:solidFill>
                  <a:srgbClr val="494959"/>
                </a:solidFill>
                <a:latin typeface="Tahoma"/>
                <a:cs typeface="Tahoma"/>
              </a:rPr>
              <a:t>with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85">
                <a:solidFill>
                  <a:srgbClr val="494959"/>
                </a:solidFill>
                <a:latin typeface="Tahoma"/>
                <a:cs typeface="Tahoma"/>
              </a:rPr>
              <a:t>advanced</a:t>
            </a:r>
            <a:r>
              <a:rPr dirty="0" sz="2150" spc="-75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0">
                <a:solidFill>
                  <a:srgbClr val="494959"/>
                </a:solidFill>
                <a:latin typeface="Tahoma"/>
                <a:cs typeface="Tahoma"/>
              </a:rPr>
              <a:t>transformer</a:t>
            </a:r>
            <a:r>
              <a:rPr dirty="0" sz="2150" spc="-80">
                <a:solidFill>
                  <a:srgbClr val="494959"/>
                </a:solidFill>
                <a:latin typeface="Tahoma"/>
                <a:cs typeface="Tahoma"/>
              </a:rPr>
              <a:t> </a:t>
            </a:r>
            <a:r>
              <a:rPr dirty="0" sz="2150" spc="105">
                <a:solidFill>
                  <a:srgbClr val="494959"/>
                </a:solidFill>
                <a:latin typeface="Tahoma"/>
                <a:cs typeface="Tahoma"/>
              </a:rPr>
              <a:t>models</a:t>
            </a:r>
            <a:endParaRPr sz="21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ᗩᗷᕼIᖇᗩᗰ ᗷS</dc:creator>
  <cp:keywords>DAHGJMFJ4B0,BAGUTrT1dAA,0</cp:keywords>
  <dc:title>Mental-Health-Text-Classification-using-SVM-and-BERT.pptx</dc:title>
  <dcterms:created xsi:type="dcterms:W3CDTF">2026-04-07T04:22:06Z</dcterms:created>
  <dcterms:modified xsi:type="dcterms:W3CDTF">2026-04-07T04:22:06Z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2026-04-07T00:00:00Z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2026-04-07T00:00:00Z</vt:filetime>
  </property>
  <property fmtid="{D5CDD505-2E9C-101B-9397-08002B2CF9AE}" pid="5" name="Producer">
    <vt:lpwstr>Canva</vt:lpwstr>
  </property>
</Properties>
</file>